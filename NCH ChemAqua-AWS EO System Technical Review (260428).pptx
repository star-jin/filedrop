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66" r:id="rId3"/>
    <p:sldId id="265" r:id="rId4"/>
    <p:sldId id="268" r:id="rId5"/>
    <p:sldId id="270" r:id="rId6"/>
    <p:sldId id="269" r:id="rId7"/>
    <p:sldId id="283" r:id="rId8"/>
    <p:sldId id="292" r:id="rId9"/>
    <p:sldId id="273" r:id="rId10"/>
    <p:sldId id="274" r:id="rId11"/>
    <p:sldId id="272" r:id="rId12"/>
    <p:sldId id="293" r:id="rId13"/>
    <p:sldId id="303" r:id="rId14"/>
    <p:sldId id="300" r:id="rId15"/>
    <p:sldId id="301" r:id="rId16"/>
    <p:sldId id="302" r:id="rId17"/>
    <p:sldId id="259" r:id="rId18"/>
    <p:sldId id="304" r:id="rId19"/>
    <p:sldId id="305" r:id="rId20"/>
    <p:sldId id="306" r:id="rId21"/>
    <p:sldId id="307" r:id="rId22"/>
    <p:sldId id="30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DE525-91A5-46A3-9C55-F1858F0C9736}" v="114" dt="2026-04-28T03:23:06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Conductivity, Hardness, Alkalinity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DATA!$C$115:$C$146</c:f>
            </c:numRef>
          </c:val>
          <c:extLst>
            <c:ext xmlns:c16="http://schemas.microsoft.com/office/drawing/2014/chart" uri="{C3380CC4-5D6E-409C-BE32-E72D297353CC}">
              <c16:uniqueId val="{00000000-2439-40A8-9682-34645C39C5DE}"/>
            </c:ext>
          </c:extLst>
        </c:ser>
        <c:ser>
          <c:idx val="2"/>
          <c:order val="2"/>
          <c:tx>
            <c:v>Hardness (ppm)</c:v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DATA!$D$115:$D$146</c:f>
              <c:numCache>
                <c:formatCode>General</c:formatCode>
                <c:ptCount val="32"/>
                <c:pt idx="0">
                  <c:v>191</c:v>
                </c:pt>
                <c:pt idx="1">
                  <c:v>200</c:v>
                </c:pt>
                <c:pt idx="2">
                  <c:v>140</c:v>
                </c:pt>
                <c:pt idx="3">
                  <c:v>121</c:v>
                </c:pt>
                <c:pt idx="4">
                  <c:v>113</c:v>
                </c:pt>
                <c:pt idx="5">
                  <c:v>121</c:v>
                </c:pt>
                <c:pt idx="6">
                  <c:v>110</c:v>
                </c:pt>
                <c:pt idx="7">
                  <c:v>220</c:v>
                </c:pt>
                <c:pt idx="8">
                  <c:v>250</c:v>
                </c:pt>
                <c:pt idx="9">
                  <c:v>214</c:v>
                </c:pt>
                <c:pt idx="10">
                  <c:v>228</c:v>
                </c:pt>
                <c:pt idx="11">
                  <c:v>208</c:v>
                </c:pt>
                <c:pt idx="12">
                  <c:v>220</c:v>
                </c:pt>
                <c:pt idx="13">
                  <c:v>260</c:v>
                </c:pt>
                <c:pt idx="14">
                  <c:v>240</c:v>
                </c:pt>
                <c:pt idx="15">
                  <c:v>280</c:v>
                </c:pt>
                <c:pt idx="16">
                  <c:v>260</c:v>
                </c:pt>
                <c:pt idx="17">
                  <c:v>250</c:v>
                </c:pt>
                <c:pt idx="18">
                  <c:v>260</c:v>
                </c:pt>
                <c:pt idx="19">
                  <c:v>240</c:v>
                </c:pt>
                <c:pt idx="20">
                  <c:v>180</c:v>
                </c:pt>
                <c:pt idx="21">
                  <c:v>240</c:v>
                </c:pt>
                <c:pt idx="22">
                  <c:v>220</c:v>
                </c:pt>
                <c:pt idx="23">
                  <c:v>250</c:v>
                </c:pt>
                <c:pt idx="24">
                  <c:v>260</c:v>
                </c:pt>
                <c:pt idx="25">
                  <c:v>290</c:v>
                </c:pt>
                <c:pt idx="26">
                  <c:v>370</c:v>
                </c:pt>
                <c:pt idx="27">
                  <c:v>220</c:v>
                </c:pt>
                <c:pt idx="28">
                  <c:v>240</c:v>
                </c:pt>
                <c:pt idx="29">
                  <c:v>220</c:v>
                </c:pt>
                <c:pt idx="30">
                  <c:v>170</c:v>
                </c:pt>
                <c:pt idx="31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39-40A8-9682-34645C39C5DE}"/>
            </c:ext>
          </c:extLst>
        </c:ser>
        <c:ser>
          <c:idx val="0"/>
          <c:order val="0"/>
          <c:tx>
            <c:v>Alkalinity (ppm)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DATA!$B$115:$B$146</c:f>
              <c:numCache>
                <c:formatCode>General</c:formatCode>
                <c:ptCount val="32"/>
                <c:pt idx="0">
                  <c:v>350</c:v>
                </c:pt>
                <c:pt idx="1">
                  <c:v>330</c:v>
                </c:pt>
                <c:pt idx="2">
                  <c:v>330</c:v>
                </c:pt>
                <c:pt idx="3">
                  <c:v>360</c:v>
                </c:pt>
                <c:pt idx="4">
                  <c:v>330</c:v>
                </c:pt>
                <c:pt idx="5">
                  <c:v>330</c:v>
                </c:pt>
                <c:pt idx="6">
                  <c:v>320</c:v>
                </c:pt>
                <c:pt idx="7">
                  <c:v>320</c:v>
                </c:pt>
                <c:pt idx="8">
                  <c:v>350</c:v>
                </c:pt>
                <c:pt idx="9">
                  <c:v>340</c:v>
                </c:pt>
                <c:pt idx="10">
                  <c:v>360</c:v>
                </c:pt>
                <c:pt idx="11">
                  <c:v>360</c:v>
                </c:pt>
                <c:pt idx="12">
                  <c:v>350</c:v>
                </c:pt>
                <c:pt idx="13">
                  <c:v>360</c:v>
                </c:pt>
                <c:pt idx="14">
                  <c:v>380</c:v>
                </c:pt>
                <c:pt idx="15">
                  <c:v>420</c:v>
                </c:pt>
                <c:pt idx="16">
                  <c:v>390</c:v>
                </c:pt>
                <c:pt idx="17">
                  <c:v>360</c:v>
                </c:pt>
                <c:pt idx="18">
                  <c:v>380</c:v>
                </c:pt>
                <c:pt idx="19">
                  <c:v>350</c:v>
                </c:pt>
                <c:pt idx="20">
                  <c:v>320</c:v>
                </c:pt>
                <c:pt idx="21">
                  <c:v>320</c:v>
                </c:pt>
                <c:pt idx="22">
                  <c:v>310</c:v>
                </c:pt>
                <c:pt idx="23">
                  <c:v>290</c:v>
                </c:pt>
                <c:pt idx="24">
                  <c:v>310</c:v>
                </c:pt>
                <c:pt idx="25">
                  <c:v>410</c:v>
                </c:pt>
                <c:pt idx="26">
                  <c:v>290</c:v>
                </c:pt>
                <c:pt idx="27">
                  <c:v>340</c:v>
                </c:pt>
                <c:pt idx="28">
                  <c:v>290</c:v>
                </c:pt>
                <c:pt idx="29">
                  <c:v>330</c:v>
                </c:pt>
                <c:pt idx="30">
                  <c:v>310</c:v>
                </c:pt>
                <c:pt idx="31">
                  <c:v>320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439-40A8-9682-34645C39C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01671440"/>
        <c:axId val="401680080"/>
      </c:barChart>
      <c:lineChart>
        <c:grouping val="standard"/>
        <c:varyColors val="0"/>
        <c:ser>
          <c:idx val="3"/>
          <c:order val="3"/>
          <c:tx>
            <c:v>Conductivity (uS/cm)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DATA!$A$115:$A$146</c:f>
              <c:strCache>
                <c:ptCount val="32"/>
                <c:pt idx="0">
                  <c:v>1/11/2024</c:v>
                </c:pt>
                <c:pt idx="1">
                  <c:v>2/8/2024</c:v>
                </c:pt>
                <c:pt idx="2">
                  <c:v>3/7/2024</c:v>
                </c:pt>
                <c:pt idx="3">
                  <c:v>4/4/2024</c:v>
                </c:pt>
                <c:pt idx="4">
                  <c:v>5/2/2024</c:v>
                </c:pt>
                <c:pt idx="5">
                  <c:v>6/13/2024</c:v>
                </c:pt>
                <c:pt idx="6">
                  <c:v>7/12/2024</c:v>
                </c:pt>
                <c:pt idx="7">
                  <c:v>8/8/2024</c:v>
                </c:pt>
                <c:pt idx="8">
                  <c:v>9/5/2024</c:v>
                </c:pt>
                <c:pt idx="9">
                  <c:v>10/3/2024</c:v>
                </c:pt>
                <c:pt idx="10">
                  <c:v>11/1/2024</c:v>
                </c:pt>
                <c:pt idx="11">
                  <c:v>12/12/2024</c:v>
                </c:pt>
                <c:pt idx="12">
                  <c:v>12/26/2024</c:v>
                </c:pt>
                <c:pt idx="13">
                  <c:v>1/9/2025</c:v>
                </c:pt>
                <c:pt idx="14">
                  <c:v>1/23/2025</c:v>
                </c:pt>
                <c:pt idx="15">
                  <c:v>2/6/2025</c:v>
                </c:pt>
                <c:pt idx="16">
                  <c:v>2/20/2025</c:v>
                </c:pt>
                <c:pt idx="17">
                  <c:v>3/6/2025</c:v>
                </c:pt>
                <c:pt idx="18">
                  <c:v>3/20/2025</c:v>
                </c:pt>
                <c:pt idx="19">
                  <c:v>4/3/2025</c:v>
                </c:pt>
                <c:pt idx="20">
                  <c:v>4/17/2025</c:v>
                </c:pt>
                <c:pt idx="21">
                  <c:v> 2 May 2025</c:v>
                </c:pt>
                <c:pt idx="22">
                  <c:v> 15 May 2025</c:v>
                </c:pt>
                <c:pt idx="23">
                  <c:v> 29 May 2025</c:v>
                </c:pt>
                <c:pt idx="24">
                  <c:v>6/12/2025</c:v>
                </c:pt>
                <c:pt idx="25">
                  <c:v>6/26/2025</c:v>
                </c:pt>
                <c:pt idx="26">
                  <c:v>7/10/2025</c:v>
                </c:pt>
                <c:pt idx="27">
                  <c:v>7/24/2025</c:v>
                </c:pt>
                <c:pt idx="28">
                  <c:v>8/8/2025</c:v>
                </c:pt>
                <c:pt idx="29">
                  <c:v>8/21/2025</c:v>
                </c:pt>
                <c:pt idx="30">
                  <c:v>9/4/2025</c:v>
                </c:pt>
                <c:pt idx="31">
                  <c:v>9/18/2025</c:v>
                </c:pt>
              </c:strCache>
            </c:strRef>
          </c:cat>
          <c:val>
            <c:numRef>
              <c:f>DATA!$E$115:$E$146</c:f>
              <c:numCache>
                <c:formatCode>General</c:formatCode>
                <c:ptCount val="32"/>
                <c:pt idx="0">
                  <c:v>1350</c:v>
                </c:pt>
                <c:pt idx="1">
                  <c:v>1330</c:v>
                </c:pt>
                <c:pt idx="2">
                  <c:v>1300</c:v>
                </c:pt>
                <c:pt idx="3">
                  <c:v>1300</c:v>
                </c:pt>
                <c:pt idx="4">
                  <c:v>1300</c:v>
                </c:pt>
                <c:pt idx="5">
                  <c:v>1300</c:v>
                </c:pt>
                <c:pt idx="6">
                  <c:v>1300</c:v>
                </c:pt>
                <c:pt idx="7">
                  <c:v>1300</c:v>
                </c:pt>
                <c:pt idx="8">
                  <c:v>1300</c:v>
                </c:pt>
                <c:pt idx="9">
                  <c:v>1300</c:v>
                </c:pt>
                <c:pt idx="10">
                  <c:v>1300</c:v>
                </c:pt>
                <c:pt idx="11">
                  <c:v>1500</c:v>
                </c:pt>
                <c:pt idx="12">
                  <c:v>1500</c:v>
                </c:pt>
                <c:pt idx="13">
                  <c:v>1500</c:v>
                </c:pt>
                <c:pt idx="14">
                  <c:v>1530</c:v>
                </c:pt>
                <c:pt idx="15">
                  <c:v>1500</c:v>
                </c:pt>
                <c:pt idx="16">
                  <c:v>1500</c:v>
                </c:pt>
                <c:pt idx="17">
                  <c:v>1500</c:v>
                </c:pt>
                <c:pt idx="18">
                  <c:v>1500</c:v>
                </c:pt>
                <c:pt idx="19">
                  <c:v>1500</c:v>
                </c:pt>
                <c:pt idx="20">
                  <c:v>1500</c:v>
                </c:pt>
                <c:pt idx="21">
                  <c:v>1460</c:v>
                </c:pt>
                <c:pt idx="22">
                  <c:v>1500</c:v>
                </c:pt>
                <c:pt idx="23">
                  <c:v>1520</c:v>
                </c:pt>
                <c:pt idx="24">
                  <c:v>1530</c:v>
                </c:pt>
                <c:pt idx="25">
                  <c:v>1510</c:v>
                </c:pt>
                <c:pt idx="26">
                  <c:v>1510</c:v>
                </c:pt>
                <c:pt idx="27">
                  <c:v>1500</c:v>
                </c:pt>
                <c:pt idx="28">
                  <c:v>1500</c:v>
                </c:pt>
                <c:pt idx="29">
                  <c:v>1500</c:v>
                </c:pt>
                <c:pt idx="30">
                  <c:v>1500</c:v>
                </c:pt>
                <c:pt idx="31">
                  <c:v>1480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439-40A8-9682-34645C39C5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52767"/>
        <c:axId val="19753247"/>
      </c:lineChart>
      <c:catAx>
        <c:axId val="19752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3247"/>
        <c:crosses val="autoZero"/>
        <c:auto val="1"/>
        <c:lblAlgn val="ctr"/>
        <c:lblOffset val="100"/>
        <c:noMultiLvlLbl val="0"/>
      </c:catAx>
      <c:valAx>
        <c:axId val="197532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52767"/>
        <c:crosses val="autoZero"/>
        <c:crossBetween val="between"/>
      </c:valAx>
      <c:valAx>
        <c:axId val="40168008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1671440"/>
        <c:crosses val="max"/>
        <c:crossBetween val="between"/>
      </c:valAx>
      <c:catAx>
        <c:axId val="401671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016800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WUE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05423120"/>
        <c:axId val="160542456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Blowdown!$B$1</c15:sqref>
                        </c15:formulaRef>
                      </c:ext>
                    </c:extLst>
                    <c:strCache>
                      <c:ptCount val="1"/>
                      <c:pt idx="0">
                        <c:v>Blowdown (m3)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Blowdown!$A$2:$A$31</c15:sqref>
                        </c15:formulaRef>
                      </c:ext>
                    </c:extLst>
                    <c:numCache>
                      <c:formatCode>m/d/yyyy</c:formatCode>
                      <c:ptCount val="30"/>
                      <c:pt idx="0">
                        <c:v>44927</c:v>
                      </c:pt>
                      <c:pt idx="1">
                        <c:v>44958</c:v>
                      </c:pt>
                      <c:pt idx="2">
                        <c:v>44986</c:v>
                      </c:pt>
                      <c:pt idx="3">
                        <c:v>45017</c:v>
                      </c:pt>
                      <c:pt idx="4">
                        <c:v>45047</c:v>
                      </c:pt>
                      <c:pt idx="5">
                        <c:v>45078</c:v>
                      </c:pt>
                      <c:pt idx="6">
                        <c:v>45108</c:v>
                      </c:pt>
                      <c:pt idx="7">
                        <c:v>45139</c:v>
                      </c:pt>
                      <c:pt idx="8">
                        <c:v>45170</c:v>
                      </c:pt>
                      <c:pt idx="9">
                        <c:v>45200</c:v>
                      </c:pt>
                      <c:pt idx="10">
                        <c:v>45231</c:v>
                      </c:pt>
                      <c:pt idx="11">
                        <c:v>45261</c:v>
                      </c:pt>
                      <c:pt idx="12">
                        <c:v>45292</c:v>
                      </c:pt>
                      <c:pt idx="13">
                        <c:v>45323</c:v>
                      </c:pt>
                      <c:pt idx="14">
                        <c:v>45352</c:v>
                      </c:pt>
                      <c:pt idx="15">
                        <c:v>45383</c:v>
                      </c:pt>
                      <c:pt idx="16">
                        <c:v>45413</c:v>
                      </c:pt>
                      <c:pt idx="17">
                        <c:v>45444</c:v>
                      </c:pt>
                      <c:pt idx="18">
                        <c:v>45474</c:v>
                      </c:pt>
                      <c:pt idx="19">
                        <c:v>45505</c:v>
                      </c:pt>
                      <c:pt idx="20">
                        <c:v>45536</c:v>
                      </c:pt>
                      <c:pt idx="21">
                        <c:v>45566</c:v>
                      </c:pt>
                      <c:pt idx="22">
                        <c:v>45597</c:v>
                      </c:pt>
                      <c:pt idx="23">
                        <c:v>45627</c:v>
                      </c:pt>
                      <c:pt idx="24">
                        <c:v>45658</c:v>
                      </c:pt>
                      <c:pt idx="25">
                        <c:v>45689</c:v>
                      </c:pt>
                      <c:pt idx="26">
                        <c:v>45717</c:v>
                      </c:pt>
                      <c:pt idx="27">
                        <c:v>45748</c:v>
                      </c:pt>
                      <c:pt idx="28">
                        <c:v>45778</c:v>
                      </c:pt>
                      <c:pt idx="29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Blowdown!$B$2:$B$31</c15:sqref>
                        </c15:formulaRef>
                      </c:ext>
                    </c:extLst>
                    <c:numCache>
                      <c:formatCode>0</c:formatCode>
                      <c:ptCount val="30"/>
                      <c:pt idx="0">
                        <c:v>1041.2998046875</c:v>
                      </c:pt>
                      <c:pt idx="1">
                        <c:v>989.8994140625</c:v>
                      </c:pt>
                      <c:pt idx="2">
                        <c:v>1081.298828125</c:v>
                      </c:pt>
                      <c:pt idx="3">
                        <c:v>1034.6015625</c:v>
                      </c:pt>
                      <c:pt idx="4">
                        <c:v>1213.298828125</c:v>
                      </c:pt>
                      <c:pt idx="5">
                        <c:v>1378.80078125</c:v>
                      </c:pt>
                      <c:pt idx="6">
                        <c:v>1352.400390625</c:v>
                      </c:pt>
                      <c:pt idx="7">
                        <c:v>1257.798828125</c:v>
                      </c:pt>
                      <c:pt idx="8">
                        <c:v>1262.400390625</c:v>
                      </c:pt>
                      <c:pt idx="9">
                        <c:v>1418</c:v>
                      </c:pt>
                      <c:pt idx="10">
                        <c:v>639.5</c:v>
                      </c:pt>
                      <c:pt idx="11">
                        <c:v>1055.900390625</c:v>
                      </c:pt>
                      <c:pt idx="12">
                        <c:v>1342.099999999997</c:v>
                      </c:pt>
                      <c:pt idx="13">
                        <c:v>1059.2999999999988</c:v>
                      </c:pt>
                      <c:pt idx="14">
                        <c:v>1097.6400000000003</c:v>
                      </c:pt>
                      <c:pt idx="15">
                        <c:v>1173.4599999999982</c:v>
                      </c:pt>
                      <c:pt idx="16">
                        <c:v>1551.0000000000027</c:v>
                      </c:pt>
                      <c:pt idx="17">
                        <c:v>1194</c:v>
                      </c:pt>
                      <c:pt idx="18">
                        <c:v>1313.7999999999956</c:v>
                      </c:pt>
                      <c:pt idx="19">
                        <c:v>1145.9000000000015</c:v>
                      </c:pt>
                      <c:pt idx="20">
                        <c:v>1264.4999999999964</c:v>
                      </c:pt>
                      <c:pt idx="21">
                        <c:v>1171.6000000000131</c:v>
                      </c:pt>
                      <c:pt idx="22">
                        <c:v>1207.5999999999949</c:v>
                      </c:pt>
                      <c:pt idx="23">
                        <c:v>1034.5</c:v>
                      </c:pt>
                      <c:pt idx="24" formatCode="General">
                        <c:v>1117.4999999999964</c:v>
                      </c:pt>
                      <c:pt idx="25" formatCode="General">
                        <c:v>1015.1000000000058</c:v>
                      </c:pt>
                      <c:pt idx="26" formatCode="General">
                        <c:v>1130.5000000000036</c:v>
                      </c:pt>
                      <c:pt idx="27" formatCode="General">
                        <c:v>1037.2999999999884</c:v>
                      </c:pt>
                      <c:pt idx="28" formatCode="General">
                        <c:v>1160.260000000002</c:v>
                      </c:pt>
                      <c:pt idx="29" formatCode="General">
                        <c:v>2029.8400000000038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D937-4FE3-AD38-F922E4FE3B50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1"/>
          <c:order val="1"/>
          <c:tx>
            <c:strRef>
              <c:f>Blowdown!$C$1</c:f>
              <c:strCache>
                <c:ptCount val="1"/>
                <c:pt idx="0">
                  <c:v>WUE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Blowdown!$A$2:$A$31</c:f>
              <c:numCache>
                <c:formatCode>m/d/yyyy</c:formatCode>
                <c:ptCount val="30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</c:numCache>
            </c:numRef>
          </c:cat>
          <c:val>
            <c:numRef>
              <c:f>Blowdown!$C$2:$C$31</c:f>
              <c:numCache>
                <c:formatCode>0.00</c:formatCode>
                <c:ptCount val="30"/>
                <c:pt idx="0">
                  <c:v>1.8308813355837912</c:v>
                </c:pt>
                <c:pt idx="1">
                  <c:v>2.0868184906854412</c:v>
                </c:pt>
                <c:pt idx="2">
                  <c:v>1.5472716049382715</c:v>
                </c:pt>
                <c:pt idx="3">
                  <c:v>1.7692341686799622</c:v>
                </c:pt>
                <c:pt idx="4">
                  <c:v>1.999586655681248</c:v>
                </c:pt>
                <c:pt idx="5">
                  <c:v>2.0302340211373928</c:v>
                </c:pt>
                <c:pt idx="6">
                  <c:v>2.1427530141406796</c:v>
                </c:pt>
                <c:pt idx="7">
                  <c:v>1.472205344916707</c:v>
                </c:pt>
                <c:pt idx="8">
                  <c:v>1.9833583134470338</c:v>
                </c:pt>
                <c:pt idx="9">
                  <c:v>1.871057464744015</c:v>
                </c:pt>
                <c:pt idx="10">
                  <c:v>1.7859060042085537</c:v>
                </c:pt>
                <c:pt idx="11">
                  <c:v>2.0332214157661759</c:v>
                </c:pt>
                <c:pt idx="12">
                  <c:v>1.887302916239614</c:v>
                </c:pt>
                <c:pt idx="13">
                  <c:v>1.7361296296296296</c:v>
                </c:pt>
                <c:pt idx="14">
                  <c:v>2.1201910758333025</c:v>
                </c:pt>
                <c:pt idx="15">
                  <c:v>1.7841187254790221</c:v>
                </c:pt>
                <c:pt idx="16">
                  <c:v>1.885658747300216</c:v>
                </c:pt>
                <c:pt idx="17">
                  <c:v>1.8699834622544469</c:v>
                </c:pt>
                <c:pt idx="18">
                  <c:v>1.8106712145814292</c:v>
                </c:pt>
                <c:pt idx="19">
                  <c:v>1.581095092005377</c:v>
                </c:pt>
                <c:pt idx="20">
                  <c:v>1.2353323928013691</c:v>
                </c:pt>
                <c:pt idx="21">
                  <c:v>1.2438199405702726</c:v>
                </c:pt>
                <c:pt idx="22">
                  <c:v>1.4206284239027769</c:v>
                </c:pt>
                <c:pt idx="23">
                  <c:v>1.3738446567429783</c:v>
                </c:pt>
                <c:pt idx="24">
                  <c:v>1.3955157577048949</c:v>
                </c:pt>
                <c:pt idx="25">
                  <c:v>1.4814605104600214</c:v>
                </c:pt>
                <c:pt idx="26">
                  <c:v>1.2097666268482341</c:v>
                </c:pt>
                <c:pt idx="27">
                  <c:v>1.3946260547572213</c:v>
                </c:pt>
                <c:pt idx="28">
                  <c:v>1.3738127908232307</c:v>
                </c:pt>
                <c:pt idx="29">
                  <c:v>1.4137720224040002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37-4FE3-AD38-F922E4FE3B50}"/>
            </c:ext>
          </c:extLst>
        </c:ser>
        <c:ser>
          <c:idx val="2"/>
          <c:order val="2"/>
          <c:tx>
            <c:strRef>
              <c:f>Blowdown!$D$1</c:f>
              <c:strCache>
                <c:ptCount val="1"/>
                <c:pt idx="0">
                  <c:v>WUE 2023 (Avg)</c:v>
                </c:pt>
              </c:strCache>
            </c:strRef>
          </c:tx>
          <c:spPr>
            <a:ln w="28575" cap="rnd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Blowdown!$A$2:$A$31</c:f>
              <c:numCache>
                <c:formatCode>m/d/yyyy</c:formatCode>
                <c:ptCount val="30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</c:numCache>
            </c:numRef>
          </c:cat>
          <c:val>
            <c:numRef>
              <c:f>Blowdown!$D$2:$D$31</c:f>
              <c:numCache>
                <c:formatCode>0.00</c:formatCode>
                <c:ptCount val="30"/>
                <c:pt idx="0">
                  <c:v>1.8793773194941057</c:v>
                </c:pt>
                <c:pt idx="1">
                  <c:v>1.8793773194941057</c:v>
                </c:pt>
                <c:pt idx="2">
                  <c:v>1.8793773194941057</c:v>
                </c:pt>
                <c:pt idx="3">
                  <c:v>1.8793773194941057</c:v>
                </c:pt>
                <c:pt idx="4">
                  <c:v>1.8793773194941057</c:v>
                </c:pt>
                <c:pt idx="5">
                  <c:v>1.8793773194941057</c:v>
                </c:pt>
                <c:pt idx="6">
                  <c:v>1.8793773194941057</c:v>
                </c:pt>
                <c:pt idx="7">
                  <c:v>1.8793773194941057</c:v>
                </c:pt>
                <c:pt idx="8">
                  <c:v>1.8793773194941057</c:v>
                </c:pt>
                <c:pt idx="9">
                  <c:v>1.8793773194941057</c:v>
                </c:pt>
                <c:pt idx="10">
                  <c:v>1.8793773194941057</c:v>
                </c:pt>
                <c:pt idx="11">
                  <c:v>1.8793773194941057</c:v>
                </c:pt>
                <c:pt idx="12">
                  <c:v>1.8793773194941057</c:v>
                </c:pt>
                <c:pt idx="13">
                  <c:v>1.8793773194941057</c:v>
                </c:pt>
                <c:pt idx="14">
                  <c:v>1.8793773194941057</c:v>
                </c:pt>
                <c:pt idx="15">
                  <c:v>1.8793773194941057</c:v>
                </c:pt>
                <c:pt idx="16">
                  <c:v>1.8793773194941057</c:v>
                </c:pt>
                <c:pt idx="17">
                  <c:v>1.8793773194941057</c:v>
                </c:pt>
                <c:pt idx="18">
                  <c:v>1.8793773194941057</c:v>
                </c:pt>
                <c:pt idx="19">
                  <c:v>1.8793773194941057</c:v>
                </c:pt>
                <c:pt idx="20">
                  <c:v>1.8793773194941057</c:v>
                </c:pt>
                <c:pt idx="21">
                  <c:v>1.8793773194941057</c:v>
                </c:pt>
                <c:pt idx="22">
                  <c:v>1.8793773194941057</c:v>
                </c:pt>
                <c:pt idx="23">
                  <c:v>1.8793773194941057</c:v>
                </c:pt>
                <c:pt idx="24">
                  <c:v>1.8793773194941057</c:v>
                </c:pt>
                <c:pt idx="25">
                  <c:v>1.8793773194941057</c:v>
                </c:pt>
                <c:pt idx="26">
                  <c:v>1.8793773194941057</c:v>
                </c:pt>
                <c:pt idx="27">
                  <c:v>1.8793773194941057</c:v>
                </c:pt>
                <c:pt idx="28">
                  <c:v>1.8793773194941057</c:v>
                </c:pt>
                <c:pt idx="29">
                  <c:v>1.8793773194941057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37-4FE3-AD38-F922E4FE3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05423120"/>
        <c:axId val="1605424560"/>
        <c:extLst>
          <c:ext xmlns:c15="http://schemas.microsoft.com/office/drawing/2012/chart" uri="{02D57815-91ED-43cb-92C2-25804820EDAC}">
            <c15:filteredLine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Blowdown!$E$1</c15:sqref>
                        </c15:formulaRef>
                      </c:ext>
                    </c:extLst>
                    <c:strCache>
                      <c:ptCount val="1"/>
                      <c:pt idx="0">
                        <c:v>PUB Benchmark</c:v>
                      </c:pt>
                    </c:strCache>
                  </c:strRef>
                </c:tx>
                <c:spPr>
                  <a:ln w="28575" cap="rnd">
                    <a:solidFill>
                      <a:schemeClr val="accent4"/>
                    </a:solidFill>
                    <a:prstDash val="dash"/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Blowdown!$A$2:$A$31</c15:sqref>
                        </c15:formulaRef>
                      </c:ext>
                    </c:extLst>
                    <c:numCache>
                      <c:formatCode>m/d/yyyy</c:formatCode>
                      <c:ptCount val="30"/>
                      <c:pt idx="0">
                        <c:v>44927</c:v>
                      </c:pt>
                      <c:pt idx="1">
                        <c:v>44958</c:v>
                      </c:pt>
                      <c:pt idx="2">
                        <c:v>44986</c:v>
                      </c:pt>
                      <c:pt idx="3">
                        <c:v>45017</c:v>
                      </c:pt>
                      <c:pt idx="4">
                        <c:v>45047</c:v>
                      </c:pt>
                      <c:pt idx="5">
                        <c:v>45078</c:v>
                      </c:pt>
                      <c:pt idx="6">
                        <c:v>45108</c:v>
                      </c:pt>
                      <c:pt idx="7">
                        <c:v>45139</c:v>
                      </c:pt>
                      <c:pt idx="8">
                        <c:v>45170</c:v>
                      </c:pt>
                      <c:pt idx="9">
                        <c:v>45200</c:v>
                      </c:pt>
                      <c:pt idx="10">
                        <c:v>45231</c:v>
                      </c:pt>
                      <c:pt idx="11">
                        <c:v>45261</c:v>
                      </c:pt>
                      <c:pt idx="12">
                        <c:v>45292</c:v>
                      </c:pt>
                      <c:pt idx="13">
                        <c:v>45323</c:v>
                      </c:pt>
                      <c:pt idx="14">
                        <c:v>45352</c:v>
                      </c:pt>
                      <c:pt idx="15">
                        <c:v>45383</c:v>
                      </c:pt>
                      <c:pt idx="16">
                        <c:v>45413</c:v>
                      </c:pt>
                      <c:pt idx="17">
                        <c:v>45444</c:v>
                      </c:pt>
                      <c:pt idx="18">
                        <c:v>45474</c:v>
                      </c:pt>
                      <c:pt idx="19">
                        <c:v>45505</c:v>
                      </c:pt>
                      <c:pt idx="20">
                        <c:v>45536</c:v>
                      </c:pt>
                      <c:pt idx="21">
                        <c:v>45566</c:v>
                      </c:pt>
                      <c:pt idx="22">
                        <c:v>45597</c:v>
                      </c:pt>
                      <c:pt idx="23">
                        <c:v>45627</c:v>
                      </c:pt>
                      <c:pt idx="24">
                        <c:v>45658</c:v>
                      </c:pt>
                      <c:pt idx="25">
                        <c:v>45689</c:v>
                      </c:pt>
                      <c:pt idx="26">
                        <c:v>45717</c:v>
                      </c:pt>
                      <c:pt idx="27">
                        <c:v>45748</c:v>
                      </c:pt>
                      <c:pt idx="28">
                        <c:v>45778</c:v>
                      </c:pt>
                      <c:pt idx="29">
                        <c:v>45809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Blowdown!$E$2:$E$31</c15:sqref>
                        </c15:formulaRef>
                      </c:ext>
                    </c:extLst>
                    <c:numCache>
                      <c:formatCode>General</c:formatCode>
                      <c:ptCount val="30"/>
                      <c:pt idx="0">
                        <c:v>2.5</c:v>
                      </c:pt>
                      <c:pt idx="1">
                        <c:v>2.5</c:v>
                      </c:pt>
                      <c:pt idx="2">
                        <c:v>2.5</c:v>
                      </c:pt>
                      <c:pt idx="3">
                        <c:v>2.5</c:v>
                      </c:pt>
                      <c:pt idx="4">
                        <c:v>2.5</c:v>
                      </c:pt>
                      <c:pt idx="5">
                        <c:v>2.5</c:v>
                      </c:pt>
                      <c:pt idx="6">
                        <c:v>2.5</c:v>
                      </c:pt>
                      <c:pt idx="7">
                        <c:v>2.5</c:v>
                      </c:pt>
                      <c:pt idx="8">
                        <c:v>2.5</c:v>
                      </c:pt>
                      <c:pt idx="9">
                        <c:v>2.5</c:v>
                      </c:pt>
                      <c:pt idx="10">
                        <c:v>2.5</c:v>
                      </c:pt>
                      <c:pt idx="11">
                        <c:v>2.5</c:v>
                      </c:pt>
                      <c:pt idx="12">
                        <c:v>2.5</c:v>
                      </c:pt>
                      <c:pt idx="13">
                        <c:v>2.5</c:v>
                      </c:pt>
                      <c:pt idx="14">
                        <c:v>2.5</c:v>
                      </c:pt>
                      <c:pt idx="15">
                        <c:v>2.5</c:v>
                      </c:pt>
                      <c:pt idx="16">
                        <c:v>2.5</c:v>
                      </c:pt>
                      <c:pt idx="17">
                        <c:v>2.5</c:v>
                      </c:pt>
                      <c:pt idx="18">
                        <c:v>2.5</c:v>
                      </c:pt>
                      <c:pt idx="19">
                        <c:v>2.5</c:v>
                      </c:pt>
                      <c:pt idx="20">
                        <c:v>2.5</c:v>
                      </c:pt>
                      <c:pt idx="21">
                        <c:v>2.5</c:v>
                      </c:pt>
                      <c:pt idx="22">
                        <c:v>2.5</c:v>
                      </c:pt>
                      <c:pt idx="23">
                        <c:v>2.5</c:v>
                      </c:pt>
                      <c:pt idx="24">
                        <c:v>2.5</c:v>
                      </c:pt>
                      <c:pt idx="25">
                        <c:v>2.5</c:v>
                      </c:pt>
                      <c:pt idx="26">
                        <c:v>2.5</c:v>
                      </c:pt>
                      <c:pt idx="27">
                        <c:v>2.5</c:v>
                      </c:pt>
                      <c:pt idx="28">
                        <c:v>2.5</c:v>
                      </c:pt>
                      <c:pt idx="29">
                        <c:v>2.5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D937-4FE3-AD38-F922E4FE3B50}"/>
                  </c:ext>
                </c:extLst>
              </c15:ser>
            </c15:filteredLineSeries>
          </c:ext>
        </c:extLst>
      </c:lineChart>
      <c:dateAx>
        <c:axId val="16054231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424560"/>
        <c:crosses val="autoZero"/>
        <c:auto val="1"/>
        <c:lblOffset val="100"/>
        <c:baseTimeUnit val="months"/>
      </c:dateAx>
      <c:valAx>
        <c:axId val="1605424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5423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674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98E0-0D10-8C69-CE0D-BF42B2E69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7FFED-DF95-D011-1D6B-583927F25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558EA5-CBAC-5492-4ECF-3DA1D3E46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AEAB9-6DE4-4165-8267-A4F9EE3A8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248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2BAC3-7E60-4702-264C-1497E99CF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9D2F99-9817-F73C-AC0B-74BFC7101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64283-0473-8BC8-24B5-A9CE1A90AD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26ADA-D199-C089-36ED-76718ED700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219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48BD-2747-0632-0BB7-974267A8B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627F7-B14B-15C2-E519-497AE64829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7AB4B-0B7C-CDE6-15E0-131C67EE5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CFDB5-3BFB-5CC5-BAFA-E45704B4F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22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41824-3BF2-1A11-C3C7-ABEE6ED9E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4B72F-B45F-2AF4-86FC-1C5DF5AFF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34A53-9B5B-255F-D4BA-94F0B8A27E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7EBCC-E160-F1C1-6DF3-1BCFD09A9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64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26438-DF8A-EA87-21E4-280CBA246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4BDBB-01C2-7E4F-E256-11532545A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3E5CF-0E5B-9EE3-4A21-64971D5BB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3CA25-F6AD-E849-3A03-4B21D3ABAC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34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E061-95A7-A348-57E7-6799D9D05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7D640-96C3-4E37-D1AC-54516ABEC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E6B6FB-6A1D-66D0-0555-FE63BF0D0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7A8FA-88C8-D79B-F3F3-A00F735FF5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378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3B899-84A7-307F-2E63-CBE436F9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7D1F8-1973-6E33-2997-7C85A3721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EAF7A-0DC4-9C54-0C38-6082A9DF9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85B9C-F876-635A-8EAE-87B23CA1E9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28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DA664-9EBB-2F51-1655-162931C5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B5118-7810-46E0-ED6E-D34E4D467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ED578-A76B-6647-53CC-03089FBBB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46C19-FA50-14EE-DEF7-B5E5F5AC9B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31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44ED9-1BC6-89B5-B3A0-8DE9CCCC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735F45-C3B3-E008-9626-35E64CD22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74A35-0162-B2E3-3477-34EA02ED6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34F1A-43EA-EED7-EE8F-6028C29C09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96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6F20-5C90-C9C4-CEA4-26239C95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6C828-EF0A-1C67-8802-1EF43CCDB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DAE3CE-B26A-0DB2-8A9C-A7C124A012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5777A-C064-8069-3D49-86EFFC3BF8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866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8B463-43C3-42CA-B0C0-43774BC5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FED405-40E2-5FC5-847C-BE23294CC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132B59-039B-23B2-408D-3B1A475D9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537B3-3909-AF79-C5BA-C4EE0029CC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8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278D-632C-07D5-9EFB-2BF6284C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817093-63B4-6360-D7AC-39CA66E3E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BDD4E-1D93-83DF-7F98-E87D46748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977C4-9588-1E55-2E12-0D329C2495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659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2C6CF-C98A-50D8-1F34-8966C9F65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BB1842-0358-D540-B781-CA0B7287C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EE65C-0291-4E5B-D2B4-4E144FFAB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19716-81BC-DDE5-EDE1-5ED224228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958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3456D-1640-2D48-4038-BDE76703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BD1D46-4E55-56AB-A076-E68F75B54D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DB9F1-3618-0FF0-2F9E-06AE63CD1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32894-6FB4-9B99-CD0A-F6749A1AA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933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4935-B844-83B0-00AE-77E6BC57C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92AF7-AA16-6221-B45C-A5F8E3A94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18BD2-A0E8-D40B-0B2B-B5FC64E1C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9D081-0EFE-5C2F-ED68-CE82F3B167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246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8AC9A-4D3D-2734-4C1F-F355042B9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1DAB51-CE68-FF30-F988-935B24FC8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2B800-4A66-A1F0-95A3-849D9323D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8F3C7-C56D-26EB-4F5F-51A2EBBC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07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9B296-9602-4F9C-8BC4-985D0A30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88C4-0153-46B1-A8BD-263AE9A0DFDD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4D82E-0A60-4680-BD22-E5B4D04C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79FC3-586F-4F66-8364-C4EB47DA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FC367-6767-4FEA-82E3-6AE2969BCF3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546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7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전기산화(EO) 시스템 기술검토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3498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en-US" sz="2000" dirty="0" err="1">
                <a:solidFill>
                  <a:srgbClr val="3498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사례분석</a:t>
            </a:r>
            <a:r>
              <a:rPr lang="en-US" sz="2000" dirty="0">
                <a:solidFill>
                  <a:srgbClr val="3498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by NCH Chem-Aqua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32652-3D5D-AE1F-082C-4758165B8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69D5BD-B8BF-7871-547E-640ECE615C58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955DE2-B8E6-61C1-E943-25A78D16FBA4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개요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F68697-81FE-435D-74FA-D0AD83CFFA8D}"/>
              </a:ext>
            </a:extLst>
          </p:cNvPr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D7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검토의 목적</a:t>
            </a:r>
            <a:endParaRPr lang="en-US" sz="1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5E6B9D6-24CD-9C45-0B19-A195D1FC33B1}"/>
              </a:ext>
            </a:extLst>
          </p:cNvPr>
          <p:cNvSpPr/>
          <p:nvPr/>
        </p:nvSpPr>
        <p:spPr>
          <a:xfrm>
            <a:off x="731520" y="128016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EO 시스템 성능 보고서의 기술적 분석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개선사항의 원인 규명 및 데이터 검증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화학처리만으로 EO보다 높은 CoC 달성 사례 발견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2DDB163-CF00-9593-014A-6F81CB058A30}"/>
              </a:ext>
            </a:extLst>
          </p:cNvPr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발견사항</a:t>
            </a:r>
            <a:endParaRPr lang="en-US" sz="1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2057334-133A-9A8F-99D5-45FB4C1E29AE}"/>
              </a:ext>
            </a:extLst>
          </p:cNvPr>
          <p:cNvSpPr/>
          <p:nvPr/>
        </p:nvSpPr>
        <p:spPr>
          <a:xfrm>
            <a:off x="731520" y="310896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시스템의 처리용량이 전체 냉각수의 0.1% 미만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보고된 WUE 개선의 원인이 EO가 아닌 다른 요인인 것으로 파악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화학처리: CoC 17.16 vs EO 적용: CoC 13→15 (같은 지역)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369665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DE7FE-77B8-6E18-9819-E4E7563A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8B1603-DBDE-F8C6-16A8-4DF0587FEBF4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1B75F8-F73A-08C2-5FEF-2B361DF6095A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이해</a:t>
            </a:r>
            <a:endParaRPr lang="en-US" sz="3200" dirty="0"/>
          </a:p>
        </p:txBody>
      </p:sp>
      <p:pic>
        <p:nvPicPr>
          <p:cNvPr id="29" name="Picture 3">
            <a:extLst>
              <a:ext uri="{FF2B5EF4-FFF2-40B4-BE49-F238E27FC236}">
                <a16:creationId xmlns:a16="http://schemas.microsoft.com/office/drawing/2014/main" id="{4D7D1D5C-2C8C-AF57-0502-CE10FBDEC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60" y="920417"/>
            <a:ext cx="5178747" cy="3814409"/>
          </a:xfrm>
          <a:prstGeom prst="rect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EC650A4D-123F-67F8-6992-16C70F49F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6786" y="1365187"/>
            <a:ext cx="3311511" cy="1727745"/>
          </a:xfrm>
          <a:prstGeom prst="rect">
            <a:avLst/>
          </a:prstGeom>
        </p:spPr>
      </p:pic>
      <p:sp>
        <p:nvSpPr>
          <p:cNvPr id="31" name="Oval 5">
            <a:extLst>
              <a:ext uri="{FF2B5EF4-FFF2-40B4-BE49-F238E27FC236}">
                <a16:creationId xmlns:a16="http://schemas.microsoft.com/office/drawing/2014/main" id="{1219868E-D4DB-CAD5-3AA5-F3F0E6B2601C}"/>
              </a:ext>
            </a:extLst>
          </p:cNvPr>
          <p:cNvSpPr/>
          <p:nvPr/>
        </p:nvSpPr>
        <p:spPr>
          <a:xfrm>
            <a:off x="3037126" y="2996522"/>
            <a:ext cx="543378" cy="53938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cxnSp>
        <p:nvCxnSpPr>
          <p:cNvPr id="32" name="Straight Arrow Connector 6">
            <a:extLst>
              <a:ext uri="{FF2B5EF4-FFF2-40B4-BE49-F238E27FC236}">
                <a16:creationId xmlns:a16="http://schemas.microsoft.com/office/drawing/2014/main" id="{CF1C3207-A1BF-6437-2645-EE1D92191756}"/>
              </a:ext>
            </a:extLst>
          </p:cNvPr>
          <p:cNvCxnSpPr>
            <a:cxnSpLocks/>
          </p:cNvCxnSpPr>
          <p:nvPr/>
        </p:nvCxnSpPr>
        <p:spPr>
          <a:xfrm flipH="1">
            <a:off x="3580504" y="2614728"/>
            <a:ext cx="876282" cy="5640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C6ED912-019C-CF8C-39A2-564426748C17}"/>
              </a:ext>
            </a:extLst>
          </p:cNvPr>
          <p:cNvSpPr txBox="1"/>
          <p:nvPr/>
        </p:nvSpPr>
        <p:spPr>
          <a:xfrm>
            <a:off x="896450" y="3971780"/>
            <a:ext cx="3122195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/>
              <a:t>공개 가용 정보 (제한적)</a:t>
            </a:r>
            <a:br>
              <a:rPr lang="en-US" sz="1350" dirty="0"/>
            </a:br>
            <a:r>
              <a:rPr lang="en-US" sz="1350" dirty="0"/>
              <a:t>위치: 12 Sunview Drive, Singapore 627486</a:t>
            </a:r>
            <a:endParaRPr lang="en-SG" sz="1350" dirty="0"/>
          </a:p>
        </p:txBody>
      </p:sp>
      <p:pic>
        <p:nvPicPr>
          <p:cNvPr id="34" name="Picture 9">
            <a:extLst>
              <a:ext uri="{FF2B5EF4-FFF2-40B4-BE49-F238E27FC236}">
                <a16:creationId xmlns:a16="http://schemas.microsoft.com/office/drawing/2014/main" id="{5D276AA2-105E-167F-3BF8-2A4DCCF12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1535" y="3178783"/>
            <a:ext cx="2733815" cy="158599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8C1C291-91AA-4178-C117-52E582E03698}"/>
              </a:ext>
            </a:extLst>
          </p:cNvPr>
          <p:cNvSpPr txBox="1"/>
          <p:nvPr/>
        </p:nvSpPr>
        <p:spPr>
          <a:xfrm>
            <a:off x="5948341" y="4318028"/>
            <a:ext cx="24002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냉각탑 면적: 70m × 15m</a:t>
            </a:r>
          </a:p>
        </p:txBody>
      </p:sp>
      <p:sp>
        <p:nvSpPr>
          <p:cNvPr id="36" name="Rectangle 1">
            <a:extLst>
              <a:ext uri="{FF2B5EF4-FFF2-40B4-BE49-F238E27FC236}">
                <a16:creationId xmlns:a16="http://schemas.microsoft.com/office/drawing/2014/main" id="{DB10CAA7-30E1-B790-FB2D-CC391CED1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6027" y="675598"/>
            <a:ext cx="2232503" cy="704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25" dirty="0"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25" dirty="0">
                <a:latin typeface="Arial" panose="020B0604020202020204" pitchFamily="34" charset="0"/>
              </a:rPr>
              <a:t>옥상 냉각탑 명확히 확인 가능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25" dirty="0">
                <a:latin typeface="Arial" panose="020B0604020202020204" pitchFamily="34" charset="0"/>
              </a:rPr>
              <a:t>대규모 증발식 냉각 시스템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25" dirty="0">
                <a:latin typeface="Arial" panose="020B0604020202020204" pitchFamily="34" charset="0"/>
              </a:rPr>
              <a:t>냉각수가 주요 용수 소비원으로 추정됨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825" dirty="0">
                <a:latin typeface="Arial" panose="020B0604020202020204" pitchFamily="34" charset="0"/>
              </a:rPr>
              <a:t>예상 냉각 용량: 수십 MW</a:t>
            </a:r>
          </a:p>
        </p:txBody>
      </p:sp>
    </p:spTree>
    <p:extLst>
      <p:ext uri="{BB962C8B-B14F-4D97-AF65-F5344CB8AC3E}">
        <p14:creationId xmlns:p14="http://schemas.microsoft.com/office/powerpoint/2010/main" val="3077350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E3B12-C2B8-E586-C6B9-91F78159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1C461E-C637-371A-6885-5F3231CAAE28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AD8E10B-A230-1782-8253-4EEEDC3EEF5E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</a:t>
            </a:r>
            <a:r>
              <a:rPr lang="en-US" sz="2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(ELECTROOXIDATION)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시스템이란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en-US" sz="32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8820F90-D2E8-8ABC-92BF-51A3A917D9A0}"/>
              </a:ext>
            </a:extLst>
          </p:cNvPr>
          <p:cNvSpPr txBox="1">
            <a:spLocks/>
          </p:cNvSpPr>
          <p:nvPr/>
        </p:nvSpPr>
        <p:spPr>
          <a:xfrm>
            <a:off x="84908" y="1026200"/>
            <a:ext cx="4859383" cy="3649141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500" dirty="0"/>
              <a:t>물에 </a:t>
            </a:r>
            <a:r>
              <a:rPr lang="en-US" sz="1500" dirty="0" err="1"/>
              <a:t>전류를</a:t>
            </a:r>
            <a:r>
              <a:rPr lang="en-US" sz="1500" dirty="0"/>
              <a:t> </a:t>
            </a:r>
            <a:r>
              <a:rPr lang="en-US" sz="1500" dirty="0" err="1"/>
              <a:t>가하여</a:t>
            </a:r>
            <a:r>
              <a:rPr lang="en-US" sz="1500" dirty="0"/>
              <a:t> </a:t>
            </a:r>
            <a:r>
              <a:rPr lang="en-US" sz="1500" dirty="0" err="1"/>
              <a:t>화학반응을</a:t>
            </a:r>
            <a:r>
              <a:rPr lang="en-US" sz="1500" dirty="0"/>
              <a:t> </a:t>
            </a:r>
            <a:r>
              <a:rPr lang="en-US" sz="1500" dirty="0" err="1"/>
              <a:t>유도합니다</a:t>
            </a:r>
            <a:endParaRPr lang="en-US" sz="1500" dirty="0"/>
          </a:p>
          <a:p>
            <a:r>
              <a:rPr lang="en-US" sz="1500" dirty="0" err="1"/>
              <a:t>냉각수</a:t>
            </a:r>
            <a:r>
              <a:rPr lang="en-US" sz="1500" dirty="0"/>
              <a:t> </a:t>
            </a:r>
            <a:r>
              <a:rPr lang="en-US" sz="1500" dirty="0" err="1"/>
              <a:t>루프에서</a:t>
            </a:r>
            <a:r>
              <a:rPr lang="en-US" sz="1500" dirty="0"/>
              <a:t> </a:t>
            </a:r>
            <a:r>
              <a:rPr lang="en-US" sz="1500" dirty="0" err="1"/>
              <a:t>일반적으로</a:t>
            </a:r>
            <a:r>
              <a:rPr lang="en-US" sz="1500" dirty="0"/>
              <a:t> </a:t>
            </a:r>
            <a:r>
              <a:rPr lang="en-US" sz="1500" dirty="0" err="1"/>
              <a:t>바이패스</a:t>
            </a:r>
            <a:r>
              <a:rPr lang="en-US" sz="1500" dirty="0"/>
              <a:t> </a:t>
            </a:r>
            <a:r>
              <a:rPr lang="ko-KR" altLang="en-US" sz="1500" dirty="0"/>
              <a:t>배관을 설치하여 전체 유량의 일부만 </a:t>
            </a:r>
            <a:r>
              <a:rPr lang="en-US" sz="1500" dirty="0" err="1"/>
              <a:t>처리</a:t>
            </a:r>
            <a:r>
              <a:rPr lang="en-US" sz="1500" dirty="0"/>
              <a:t> </a:t>
            </a:r>
            <a:r>
              <a:rPr lang="ko-KR" altLang="en-US" sz="1500" dirty="0"/>
              <a:t>하도록 합니다</a:t>
            </a:r>
            <a:r>
              <a:rPr lang="en-US" altLang="ko-KR" sz="1500" dirty="0"/>
              <a:t>.</a:t>
            </a:r>
            <a:br>
              <a:rPr lang="en-US" altLang="ko-KR" sz="1500" dirty="0"/>
            </a:br>
            <a:r>
              <a:rPr lang="en-US" altLang="ko-KR" sz="1500" dirty="0"/>
              <a:t>(SIN060</a:t>
            </a:r>
            <a:r>
              <a:rPr lang="ko-KR" altLang="en-US" sz="1500" dirty="0"/>
              <a:t>은 </a:t>
            </a:r>
            <a:r>
              <a:rPr lang="en-US" altLang="ko-KR" sz="1500" dirty="0"/>
              <a:t>0.1%</a:t>
            </a:r>
            <a:r>
              <a:rPr lang="ko-KR" altLang="en-US" sz="1500" dirty="0"/>
              <a:t>미만으로 추정됨</a:t>
            </a:r>
            <a:r>
              <a:rPr lang="en-US" altLang="ko-KR" sz="1500" dirty="0"/>
              <a:t>)</a:t>
            </a:r>
            <a:endParaRPr lang="en-US" sz="1500" dirty="0"/>
          </a:p>
          <a:p>
            <a:endParaRPr lang="en-SG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1AFBF6FB-0DB1-9909-7377-D8EBCC46C76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29837" y="558947"/>
            <a:ext cx="3328516" cy="2449286"/>
          </a:xfrm>
          <a:prstGeom prst="rect">
            <a:avLst/>
          </a:prstGeom>
        </p:spPr>
      </p:pic>
      <p:sp>
        <p:nvSpPr>
          <p:cNvPr id="10" name="Oval 4">
            <a:extLst>
              <a:ext uri="{FF2B5EF4-FFF2-40B4-BE49-F238E27FC236}">
                <a16:creationId xmlns:a16="http://schemas.microsoft.com/office/drawing/2014/main" id="{EAD71038-8404-B655-3AAC-330E38A28404}"/>
              </a:ext>
            </a:extLst>
          </p:cNvPr>
          <p:cNvSpPr/>
          <p:nvPr/>
        </p:nvSpPr>
        <p:spPr>
          <a:xfrm>
            <a:off x="6894095" y="2393776"/>
            <a:ext cx="1398671" cy="1143509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5D58596-1E68-0145-B9DE-2E51DCD4C211}"/>
              </a:ext>
            </a:extLst>
          </p:cNvPr>
          <p:cNvSpPr txBox="1">
            <a:spLocks/>
          </p:cNvSpPr>
          <p:nvPr/>
        </p:nvSpPr>
        <p:spPr>
          <a:xfrm>
            <a:off x="84908" y="2393776"/>
            <a:ext cx="5851358" cy="486552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 err="1"/>
              <a:t>경도</a:t>
            </a:r>
            <a:r>
              <a:rPr lang="en-US" sz="1500" dirty="0"/>
              <a:t> 및 </a:t>
            </a:r>
            <a:r>
              <a:rPr lang="en-US" sz="1500" dirty="0" err="1"/>
              <a:t>일부</a:t>
            </a:r>
            <a:r>
              <a:rPr lang="en-US" sz="1500" dirty="0"/>
              <a:t> </a:t>
            </a:r>
            <a:r>
              <a:rPr lang="en-US" sz="1500" dirty="0" err="1"/>
              <a:t>용존</a:t>
            </a:r>
            <a:r>
              <a:rPr lang="en-US" sz="1500" dirty="0"/>
              <a:t> </a:t>
            </a:r>
            <a:r>
              <a:rPr lang="en-US" sz="1500" dirty="0" err="1"/>
              <a:t>고형물의</a:t>
            </a:r>
            <a:r>
              <a:rPr lang="en-US" sz="1500" dirty="0"/>
              <a:t> </a:t>
            </a:r>
            <a:r>
              <a:rPr lang="en-US" sz="1500" dirty="0" err="1"/>
              <a:t>부분</a:t>
            </a:r>
            <a:r>
              <a:rPr lang="en-US" sz="1500" dirty="0"/>
              <a:t> </a:t>
            </a:r>
            <a:r>
              <a:rPr lang="en-US" sz="1500" dirty="0" err="1"/>
              <a:t>제거</a:t>
            </a:r>
            <a:endParaRPr lang="en-US" sz="1500" dirty="0"/>
          </a:p>
          <a:p>
            <a:r>
              <a:rPr lang="en-US" sz="1500" dirty="0" err="1"/>
              <a:t>미생물</a:t>
            </a:r>
            <a:r>
              <a:rPr lang="en-US" sz="1500" dirty="0"/>
              <a:t> </a:t>
            </a:r>
            <a:r>
              <a:rPr lang="en-US" sz="1500" dirty="0" err="1"/>
              <a:t>제어를</a:t>
            </a:r>
            <a:r>
              <a:rPr lang="en-US" sz="1500" dirty="0"/>
              <a:t> </a:t>
            </a:r>
            <a:r>
              <a:rPr lang="en-US" sz="1500" dirty="0" err="1"/>
              <a:t>위한</a:t>
            </a:r>
            <a:r>
              <a:rPr lang="en-US" sz="1500" dirty="0"/>
              <a:t> </a:t>
            </a:r>
            <a:r>
              <a:rPr lang="en-US" sz="1500" dirty="0" err="1"/>
              <a:t>산화제</a:t>
            </a:r>
            <a:r>
              <a:rPr lang="en-US" sz="1500" dirty="0"/>
              <a:t> </a:t>
            </a:r>
            <a:r>
              <a:rPr lang="en-US" sz="1500" dirty="0" err="1"/>
              <a:t>생성</a:t>
            </a:r>
            <a:endParaRPr lang="en-US" sz="1500" dirty="0"/>
          </a:p>
          <a:p>
            <a:pPr marL="0" indent="0">
              <a:buFont typeface="Arial" pitchFamily="34" charset="0"/>
              <a:buNone/>
            </a:pPr>
            <a:endParaRPr lang="en-US" sz="1500" dirty="0">
              <a:solidFill>
                <a:srgbClr val="0070C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sz="1500" dirty="0">
                <a:solidFill>
                  <a:srgbClr val="0070C0"/>
                </a:solidFill>
              </a:rPr>
              <a:t>이 </a:t>
            </a:r>
            <a:r>
              <a:rPr lang="en-US" sz="1500" dirty="0" err="1">
                <a:solidFill>
                  <a:srgbClr val="0070C0"/>
                </a:solidFill>
              </a:rPr>
              <a:t>반응들은</a:t>
            </a:r>
            <a:r>
              <a:rPr lang="en-US" sz="1500" dirty="0">
                <a:solidFill>
                  <a:srgbClr val="0070C0"/>
                </a:solidFill>
              </a:rPr>
              <a:t> EO </a:t>
            </a:r>
            <a:r>
              <a:rPr lang="ko-KR" altLang="en-US" sz="1500" dirty="0">
                <a:solidFill>
                  <a:srgbClr val="0070C0"/>
                </a:solidFill>
              </a:rPr>
              <a:t>장치 </a:t>
            </a:r>
            <a:r>
              <a:rPr lang="en-US" sz="1500" dirty="0" err="1">
                <a:solidFill>
                  <a:srgbClr val="0070C0"/>
                </a:solidFill>
              </a:rPr>
              <a:t>내부에서</a:t>
            </a:r>
            <a:r>
              <a:rPr lang="en-US" sz="1500" dirty="0">
                <a:solidFill>
                  <a:srgbClr val="0070C0"/>
                </a:solidFill>
              </a:rPr>
              <a:t> </a:t>
            </a:r>
            <a:r>
              <a:rPr lang="en-US" sz="1500" dirty="0" err="1">
                <a:solidFill>
                  <a:srgbClr val="0070C0"/>
                </a:solidFill>
              </a:rPr>
              <a:t>국부적으로</a:t>
            </a:r>
            <a:r>
              <a:rPr lang="en-US" sz="1500" dirty="0">
                <a:solidFill>
                  <a:srgbClr val="0070C0"/>
                </a:solidFill>
              </a:rPr>
              <a:t> </a:t>
            </a:r>
            <a:r>
              <a:rPr lang="en-US" sz="1500" dirty="0" err="1">
                <a:solidFill>
                  <a:srgbClr val="0070C0"/>
                </a:solidFill>
              </a:rPr>
              <a:t>발생하며</a:t>
            </a:r>
            <a:r>
              <a:rPr lang="en-US" sz="1500" dirty="0">
                <a:solidFill>
                  <a:srgbClr val="0070C0"/>
                </a:solidFill>
              </a:rPr>
              <a:t>, </a:t>
            </a:r>
            <a:r>
              <a:rPr lang="en-US" sz="1500" dirty="0" err="1">
                <a:solidFill>
                  <a:srgbClr val="0070C0"/>
                </a:solidFill>
              </a:rPr>
              <a:t>전체</a:t>
            </a:r>
            <a:r>
              <a:rPr lang="en-US" sz="1500" dirty="0">
                <a:solidFill>
                  <a:srgbClr val="0070C0"/>
                </a:solidFill>
              </a:rPr>
              <a:t> </a:t>
            </a:r>
            <a:r>
              <a:rPr lang="en-US" sz="1500" dirty="0" err="1">
                <a:solidFill>
                  <a:srgbClr val="0070C0"/>
                </a:solidFill>
              </a:rPr>
              <a:t>시스템</a:t>
            </a:r>
            <a:r>
              <a:rPr lang="en-US" sz="1500" dirty="0">
                <a:solidFill>
                  <a:srgbClr val="0070C0"/>
                </a:solidFill>
              </a:rPr>
              <a:t> </a:t>
            </a:r>
            <a:r>
              <a:rPr lang="ko-KR" altLang="en-US" sz="1500" dirty="0">
                <a:solidFill>
                  <a:srgbClr val="0070C0"/>
                </a:solidFill>
              </a:rPr>
              <a:t>유량에 비해 용량이 턱없이 작습니다</a:t>
            </a:r>
            <a:r>
              <a:rPr lang="en-US" altLang="ko-KR" sz="1500" dirty="0">
                <a:solidFill>
                  <a:srgbClr val="0070C0"/>
                </a:solidFill>
              </a:rPr>
              <a:t>.</a:t>
            </a:r>
            <a:r>
              <a:rPr lang="ko-KR" altLang="en-US" sz="1500" dirty="0">
                <a:solidFill>
                  <a:srgbClr val="0070C0"/>
                </a:solidFill>
              </a:rPr>
              <a:t>  </a:t>
            </a:r>
            <a:endParaRPr lang="en-SG" sz="1500" b="1" dirty="0">
              <a:solidFill>
                <a:srgbClr val="0070C0"/>
              </a:solidFill>
            </a:endParaRP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16880A81-C89C-9A7F-1043-7063BDCD24C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43249" y="3145298"/>
            <a:ext cx="3862960" cy="168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401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39628-49DA-AF40-06DB-38352D1C8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DCA538-9026-D3B9-3238-8F4F244AEB73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B1540F-B830-689D-8FF2-010F305BA609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2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18D617A-7498-12C8-5C32-ED24CB1261F1}"/>
              </a:ext>
            </a:extLst>
          </p:cNvPr>
          <p:cNvSpPr txBox="1">
            <a:spLocks/>
          </p:cNvSpPr>
          <p:nvPr/>
        </p:nvSpPr>
        <p:spPr>
          <a:xfrm>
            <a:off x="314751" y="810710"/>
            <a:ext cx="7113672" cy="821156"/>
          </a:xfr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SG" b="1" dirty="0"/>
              <a:t>1. EO </a:t>
            </a:r>
            <a:r>
              <a:rPr lang="en-SG" b="1" dirty="0" err="1"/>
              <a:t>시스템</a:t>
            </a:r>
            <a:r>
              <a:rPr lang="en-SG" b="1" dirty="0"/>
              <a:t> </a:t>
            </a:r>
            <a:r>
              <a:rPr lang="en-SG" b="1" dirty="0" err="1"/>
              <a:t>규모</a:t>
            </a:r>
            <a:r>
              <a:rPr lang="en-SG" b="1" dirty="0"/>
              <a:t> </a:t>
            </a:r>
            <a:r>
              <a:rPr lang="en-SG" b="1" dirty="0" err="1"/>
              <a:t>대비</a:t>
            </a:r>
            <a:r>
              <a:rPr lang="en-SG" b="1" dirty="0"/>
              <a:t> </a:t>
            </a:r>
            <a:r>
              <a:rPr lang="en-SG" b="1" dirty="0" err="1"/>
              <a:t>냉각</a:t>
            </a:r>
            <a:r>
              <a:rPr lang="en-SG" b="1" dirty="0"/>
              <a:t> </a:t>
            </a:r>
            <a:r>
              <a:rPr lang="en-SG" b="1" dirty="0" err="1"/>
              <a:t>시스템</a:t>
            </a:r>
            <a:r>
              <a:rPr lang="en-SG" b="1" dirty="0"/>
              <a:t> </a:t>
            </a:r>
            <a:r>
              <a:rPr lang="en-SG" b="1" dirty="0" err="1"/>
              <a:t>크기</a:t>
            </a:r>
            <a:endParaRPr lang="en-SG" b="1" dirty="0"/>
          </a:p>
          <a:p>
            <a:r>
              <a:rPr lang="en-US" dirty="0"/>
              <a:t>WUE </a:t>
            </a:r>
            <a:r>
              <a:rPr lang="en-US" dirty="0" err="1"/>
              <a:t>기반</a:t>
            </a:r>
            <a:r>
              <a:rPr lang="en-US" dirty="0"/>
              <a:t> </a:t>
            </a:r>
            <a:r>
              <a:rPr lang="en-US" dirty="0" err="1"/>
              <a:t>냉각수</a:t>
            </a:r>
            <a:r>
              <a:rPr lang="en-US" dirty="0"/>
              <a:t> </a:t>
            </a:r>
            <a:r>
              <a:rPr lang="en-US" dirty="0" err="1"/>
              <a:t>유량</a:t>
            </a:r>
            <a:r>
              <a:rPr lang="en-US" dirty="0"/>
              <a:t> </a:t>
            </a:r>
            <a:r>
              <a:rPr lang="en-US" dirty="0" err="1"/>
              <a:t>추정</a:t>
            </a:r>
            <a:endParaRPr lang="en-SG" dirty="0"/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A8329BF9-BCC9-7DB3-1A4A-B2AC526A3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51" y="1780692"/>
            <a:ext cx="5177419" cy="28345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E66AC6-AE6B-A0CE-BCD6-EE63A04F5F6F}"/>
              </a:ext>
            </a:extLst>
          </p:cNvPr>
          <p:cNvSpPr txBox="1"/>
          <p:nvPr/>
        </p:nvSpPr>
        <p:spPr>
          <a:xfrm>
            <a:off x="5650217" y="1780692"/>
            <a:ext cx="28932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본 </a:t>
            </a:r>
            <a:r>
              <a:rPr lang="ko-KR" altLang="en-US" sz="1350" dirty="0"/>
              <a:t>데이터는</a:t>
            </a:r>
            <a:r>
              <a:rPr lang="en-US" sz="1350" dirty="0"/>
              <a:t> </a:t>
            </a:r>
            <a:r>
              <a:rPr lang="en-US" sz="1350" dirty="0" err="1"/>
              <a:t>공개</a:t>
            </a:r>
            <a:r>
              <a:rPr lang="ko-KR" altLang="en-US" sz="1350" dirty="0"/>
              <a:t>된 </a:t>
            </a:r>
            <a:r>
              <a:rPr lang="en-US" altLang="ko-KR" sz="1350" dirty="0"/>
              <a:t>AWS</a:t>
            </a:r>
            <a:r>
              <a:rPr lang="ko-KR" altLang="en-US" sz="1350" dirty="0"/>
              <a:t>의</a:t>
            </a:r>
            <a:r>
              <a:rPr lang="en-US" sz="1350" dirty="0"/>
              <a:t> WUE 데이터와 합리적인 엔지니어링 가정을 </a:t>
            </a:r>
            <a:r>
              <a:rPr lang="en-US" sz="1350" dirty="0" err="1"/>
              <a:t>기반으로</a:t>
            </a:r>
            <a:r>
              <a:rPr lang="en-US" sz="1350" dirty="0"/>
              <a:t> </a:t>
            </a:r>
            <a:r>
              <a:rPr lang="ko-KR" altLang="en-US" sz="1350" dirty="0" err="1"/>
              <a:t>하였습니</a:t>
            </a:r>
            <a:r>
              <a:rPr lang="en-US" sz="1350" dirty="0"/>
              <a:t>다. (</a:t>
            </a:r>
            <a:r>
              <a:rPr lang="ko-KR" altLang="en-US" sz="1350" dirty="0"/>
              <a:t>확인을 위해선 싱가폴 현장 교차 검증 필요</a:t>
            </a:r>
            <a:r>
              <a:rPr lang="en-US" altLang="ko-KR" sz="1350" dirty="0"/>
              <a:t>)</a:t>
            </a:r>
            <a:endParaRPr lang="en-SG" sz="1350" dirty="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B324B626-7723-7DA7-CBD6-29AF90BE6729}"/>
              </a:ext>
            </a:extLst>
          </p:cNvPr>
          <p:cNvSpPr/>
          <p:nvPr/>
        </p:nvSpPr>
        <p:spPr>
          <a:xfrm>
            <a:off x="5550133" y="2860161"/>
            <a:ext cx="34209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주요 결과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냉각수 보충수 추정치: ~76 m³/h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증발량 추정치: ~70 m³/h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</a:rPr>
              <a:t>순환 유량 추정치: ~9,200 m³/h</a:t>
            </a:r>
          </a:p>
        </p:txBody>
      </p:sp>
    </p:spTree>
    <p:extLst>
      <p:ext uri="{BB962C8B-B14F-4D97-AF65-F5344CB8AC3E}">
        <p14:creationId xmlns:p14="http://schemas.microsoft.com/office/powerpoint/2010/main" val="337827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81141-0B74-0D68-B350-25F30D05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FDBE2B-3F9F-F0FA-C2B2-DC1828FE0C9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E584EA-49F3-0F35-1590-652A48982C6A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altLang="ko-KR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A8426A-67D3-48FD-2A12-9394966DE3AB}"/>
              </a:ext>
            </a:extLst>
          </p:cNvPr>
          <p:cNvSpPr txBox="1">
            <a:spLocks/>
          </p:cNvSpPr>
          <p:nvPr/>
        </p:nvSpPr>
        <p:spPr>
          <a:xfrm>
            <a:off x="148415" y="897146"/>
            <a:ext cx="6621840" cy="3649141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SG" sz="2500" b="1" dirty="0"/>
              <a:t>1. EO </a:t>
            </a:r>
            <a:r>
              <a:rPr lang="en-SG" sz="2500" b="1" dirty="0" err="1"/>
              <a:t>시스템</a:t>
            </a:r>
            <a:r>
              <a:rPr lang="en-SG" sz="2500" b="1" dirty="0"/>
              <a:t> </a:t>
            </a:r>
            <a:r>
              <a:rPr lang="en-SG" sz="2500" b="1" dirty="0" err="1"/>
              <a:t>규모</a:t>
            </a:r>
            <a:r>
              <a:rPr lang="en-SG" sz="2500" b="1" dirty="0"/>
              <a:t> </a:t>
            </a:r>
            <a:r>
              <a:rPr lang="en-SG" sz="2500" b="1" dirty="0" err="1"/>
              <a:t>대비</a:t>
            </a:r>
            <a:r>
              <a:rPr lang="en-SG" sz="2500" b="1" dirty="0"/>
              <a:t> </a:t>
            </a:r>
            <a:r>
              <a:rPr lang="en-SG" sz="2500" b="1" dirty="0" err="1"/>
              <a:t>냉각</a:t>
            </a:r>
            <a:r>
              <a:rPr lang="en-SG" sz="2500" b="1" dirty="0"/>
              <a:t> </a:t>
            </a:r>
            <a:r>
              <a:rPr lang="en-SG" sz="2500" b="1" dirty="0" err="1"/>
              <a:t>시스템</a:t>
            </a:r>
            <a:r>
              <a:rPr lang="en-SG" sz="2500" b="1" dirty="0"/>
              <a:t> </a:t>
            </a:r>
            <a:r>
              <a:rPr lang="en-SG" sz="2500" b="1" dirty="0" err="1"/>
              <a:t>크기</a:t>
            </a:r>
            <a:endParaRPr lang="en-SG" sz="2500" b="1" dirty="0"/>
          </a:p>
          <a:p>
            <a:r>
              <a:rPr lang="en-SG" sz="1800" dirty="0"/>
              <a:t>EO </a:t>
            </a:r>
            <a:r>
              <a:rPr lang="en-SG" sz="1800" dirty="0" err="1"/>
              <a:t>시스템</a:t>
            </a:r>
            <a:r>
              <a:rPr lang="en-SG" sz="1800" dirty="0"/>
              <a:t> </a:t>
            </a:r>
            <a:r>
              <a:rPr lang="en-SG" sz="1800" dirty="0" err="1"/>
              <a:t>용량</a:t>
            </a:r>
            <a:r>
              <a:rPr lang="en-SG" sz="1800" dirty="0"/>
              <a:t>: ~8 m³/h </a:t>
            </a:r>
            <a:r>
              <a:rPr lang="en-SG" sz="1500" dirty="0"/>
              <a:t>(풀 </a:t>
            </a:r>
            <a:r>
              <a:rPr lang="en-SG" sz="1500" dirty="0" err="1"/>
              <a:t>스케일</a:t>
            </a:r>
            <a:r>
              <a:rPr lang="en-SG" sz="1500" dirty="0"/>
              <a:t>, SIN060</a:t>
            </a:r>
            <a:r>
              <a:rPr lang="ko-KR" altLang="en-US" sz="1500" dirty="0"/>
              <a:t>보고서 명시</a:t>
            </a:r>
            <a:r>
              <a:rPr lang="en-SG" sz="1500" dirty="0"/>
              <a:t>)</a:t>
            </a:r>
          </a:p>
          <a:p>
            <a:r>
              <a:rPr lang="en-SG" sz="1800" dirty="0" err="1"/>
              <a:t>냉각수</a:t>
            </a:r>
            <a:r>
              <a:rPr lang="en-SG" sz="1800" dirty="0"/>
              <a:t> </a:t>
            </a:r>
            <a:r>
              <a:rPr lang="en-SG" sz="1800" dirty="0" err="1"/>
              <a:t>순환</a:t>
            </a:r>
            <a:r>
              <a:rPr lang="en-SG" sz="1800" dirty="0"/>
              <a:t> </a:t>
            </a:r>
            <a:r>
              <a:rPr lang="en-SG" sz="1800" dirty="0" err="1"/>
              <a:t>추정치</a:t>
            </a:r>
            <a:r>
              <a:rPr lang="en-SG" sz="1800" dirty="0"/>
              <a:t>: ~9,200 m³/h (WUE </a:t>
            </a:r>
            <a:r>
              <a:rPr lang="en-SG" sz="1800" dirty="0" err="1"/>
              <a:t>분석</a:t>
            </a:r>
            <a:r>
              <a:rPr lang="en-SG" sz="1800" dirty="0"/>
              <a:t> </a:t>
            </a:r>
            <a:r>
              <a:rPr lang="en-SG" sz="1800" dirty="0" err="1"/>
              <a:t>기반</a:t>
            </a:r>
            <a:r>
              <a:rPr lang="en-SG" sz="1800" dirty="0"/>
              <a:t>)</a:t>
            </a:r>
          </a:p>
          <a:p>
            <a:endParaRPr lang="en-SG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DE336-822D-2239-F1AD-83B69B065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062" y="1082784"/>
            <a:ext cx="2733815" cy="1585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B1629E-7A3F-B062-3C16-50F7F9AE7443}"/>
              </a:ext>
            </a:extLst>
          </p:cNvPr>
          <p:cNvSpPr txBox="1"/>
          <p:nvPr/>
        </p:nvSpPr>
        <p:spPr>
          <a:xfrm>
            <a:off x="6045867" y="2222029"/>
            <a:ext cx="24002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냉각탑 면적: 70m × 15m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B7BFD0-8235-4C3A-680B-B56E96120C32}"/>
              </a:ext>
            </a:extLst>
          </p:cNvPr>
          <p:cNvSpPr/>
          <p:nvPr/>
        </p:nvSpPr>
        <p:spPr>
          <a:xfrm>
            <a:off x="7302979" y="601538"/>
            <a:ext cx="294158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50" dirty="0" err="1"/>
              <a:t>옥상</a:t>
            </a:r>
            <a:r>
              <a:rPr lang="ko-KR" altLang="en-US" sz="1350" dirty="0"/>
              <a:t>의 대형</a:t>
            </a:r>
            <a:r>
              <a:rPr lang="en-US" sz="1350" dirty="0"/>
              <a:t> </a:t>
            </a:r>
            <a:r>
              <a:rPr lang="en-US" sz="1350" dirty="0" err="1"/>
              <a:t>냉각</a:t>
            </a:r>
            <a:r>
              <a:rPr lang="ko-KR" altLang="en-US" sz="1350" dirty="0"/>
              <a:t>탑</a:t>
            </a:r>
            <a:endParaRPr lang="en-US" altLang="ko-KR" sz="1350" dirty="0"/>
          </a:p>
          <a:p>
            <a:r>
              <a:rPr lang="en-US" sz="1350" dirty="0"/>
              <a:t>=&gt; </a:t>
            </a:r>
            <a:r>
              <a:rPr lang="ko-KR" altLang="en-US" sz="1350" dirty="0"/>
              <a:t>대규모</a:t>
            </a:r>
            <a:r>
              <a:rPr lang="en-US" sz="1350" dirty="0"/>
              <a:t> </a:t>
            </a:r>
            <a:r>
              <a:rPr lang="en-US" sz="1350" dirty="0" err="1"/>
              <a:t>순환</a:t>
            </a:r>
            <a:r>
              <a:rPr lang="en-US" sz="1350" dirty="0"/>
              <a:t> </a:t>
            </a:r>
            <a:r>
              <a:rPr lang="ko-KR" altLang="en-US" sz="1350" dirty="0"/>
              <a:t>수</a:t>
            </a:r>
            <a:r>
              <a:rPr lang="en-US" sz="1350" dirty="0"/>
              <a:t>량</a:t>
            </a:r>
            <a:endParaRPr lang="en-SG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2F4F90-782B-788A-512F-A0BEBF5961C5}"/>
              </a:ext>
            </a:extLst>
          </p:cNvPr>
          <p:cNvSpPr txBox="1"/>
          <p:nvPr/>
        </p:nvSpPr>
        <p:spPr>
          <a:xfrm>
            <a:off x="87862" y="4033048"/>
            <a:ext cx="6159690" cy="923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전체 순환 수량 대비 </a:t>
            </a:r>
            <a:r>
              <a:rPr lang="en-SG" altLang="ko-KR" sz="1500" dirty="0"/>
              <a:t>EO </a:t>
            </a:r>
            <a:r>
              <a:rPr lang="ko-KR" altLang="en-US" sz="1500" dirty="0"/>
              <a:t>처리 수량</a:t>
            </a:r>
            <a:r>
              <a:rPr lang="en-US" altLang="ko-KR" dirty="0"/>
              <a:t>: </a:t>
            </a:r>
            <a:r>
              <a:rPr lang="en-SG" altLang="ko-KR" b="1" dirty="0">
                <a:highlight>
                  <a:srgbClr val="FFFF00"/>
                </a:highlight>
              </a:rPr>
              <a:t>&lt;0.1% </a:t>
            </a:r>
            <a:r>
              <a:rPr lang="en-SG" altLang="ko-KR" b="1" dirty="0"/>
              <a:t>of total system flow</a:t>
            </a:r>
            <a:r>
              <a:rPr lang="en-SG" altLang="ko-KR" dirty="0"/>
              <a:t> </a:t>
            </a:r>
          </a:p>
          <a:p>
            <a:r>
              <a:rPr lang="en-SG" altLang="ko-KR" dirty="0"/>
              <a:t>👉 </a:t>
            </a:r>
            <a:r>
              <a:rPr lang="en-SG" altLang="ko-KR" dirty="0" err="1"/>
              <a:t>EO는</a:t>
            </a:r>
            <a:r>
              <a:rPr lang="en-SG" altLang="ko-KR" dirty="0"/>
              <a:t> </a:t>
            </a:r>
            <a:r>
              <a:rPr lang="ko-KR" altLang="en-US" dirty="0"/>
              <a:t>메인</a:t>
            </a:r>
            <a:r>
              <a:rPr lang="en-SG" altLang="ko-KR" dirty="0"/>
              <a:t> </a:t>
            </a:r>
            <a:r>
              <a:rPr lang="ko-KR" altLang="en-US" dirty="0"/>
              <a:t>수</a:t>
            </a:r>
            <a:r>
              <a:rPr lang="en-SG" altLang="ko-KR" dirty="0" err="1"/>
              <a:t>처리</a:t>
            </a:r>
            <a:r>
              <a:rPr lang="ko-KR" altLang="en-US" dirty="0"/>
              <a:t>가</a:t>
            </a:r>
            <a:r>
              <a:rPr lang="en-SG" altLang="ko-KR" dirty="0"/>
              <a:t> </a:t>
            </a:r>
            <a:r>
              <a:rPr lang="en-SG" altLang="ko-KR" dirty="0" err="1"/>
              <a:t>아닌</a:t>
            </a:r>
            <a:r>
              <a:rPr lang="en-SG" altLang="ko-KR" dirty="0"/>
              <a:t>  </a:t>
            </a:r>
            <a:r>
              <a:rPr lang="ko-KR" altLang="en-US" dirty="0"/>
              <a:t>부수적인</a:t>
            </a:r>
            <a:r>
              <a:rPr lang="en-SG" altLang="ko-KR" dirty="0"/>
              <a:t> </a:t>
            </a:r>
            <a:r>
              <a:rPr lang="ko-KR" altLang="en-US" dirty="0"/>
              <a:t>수</a:t>
            </a:r>
            <a:r>
              <a:rPr lang="en-SG" altLang="ko-KR" dirty="0" err="1"/>
              <a:t>처리</a:t>
            </a:r>
            <a:r>
              <a:rPr lang="en-SG" altLang="ko-KR" dirty="0"/>
              <a:t> </a:t>
            </a:r>
            <a:r>
              <a:rPr lang="en-SG" altLang="ko-KR" dirty="0" err="1"/>
              <a:t>시스템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en-SG" altLang="ko-KR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0623A9E-6D5F-FDD5-301E-8FAC0D2E6552}"/>
              </a:ext>
            </a:extLst>
          </p:cNvPr>
          <p:cNvSpPr/>
          <p:nvPr/>
        </p:nvSpPr>
        <p:spPr>
          <a:xfrm>
            <a:off x="457200" y="2829984"/>
            <a:ext cx="2103120" cy="3200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AD0A0D5-822D-CF06-3D4B-D90EDCB9BA88}"/>
              </a:ext>
            </a:extLst>
          </p:cNvPr>
          <p:cNvSpPr/>
          <p:nvPr/>
        </p:nvSpPr>
        <p:spPr>
          <a:xfrm>
            <a:off x="457200" y="2829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1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124679DF-378C-64AB-B207-7EDD3D71F334}"/>
              </a:ext>
            </a:extLst>
          </p:cNvPr>
          <p:cNvSpPr/>
          <p:nvPr/>
        </p:nvSpPr>
        <p:spPr>
          <a:xfrm>
            <a:off x="2606040" y="2829984"/>
            <a:ext cx="2103120" cy="3200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A7831A4-2AAB-ED73-CE78-0A83087F5B09}"/>
              </a:ext>
            </a:extLst>
          </p:cNvPr>
          <p:cNvSpPr/>
          <p:nvPr/>
        </p:nvSpPr>
        <p:spPr>
          <a:xfrm>
            <a:off x="2606040" y="2829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EO 처리량</a:t>
            </a:r>
            <a:endParaRPr lang="en-US" sz="11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79A7E916-D878-E822-A5E0-74C3502A8397}"/>
              </a:ext>
            </a:extLst>
          </p:cNvPr>
          <p:cNvSpPr/>
          <p:nvPr/>
        </p:nvSpPr>
        <p:spPr>
          <a:xfrm>
            <a:off x="4754880" y="2829984"/>
            <a:ext cx="2103120" cy="3200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ACFD87E1-FA2B-69BD-F8B1-D5273829A47D}"/>
              </a:ext>
            </a:extLst>
          </p:cNvPr>
          <p:cNvSpPr/>
          <p:nvPr/>
        </p:nvSpPr>
        <p:spPr>
          <a:xfrm>
            <a:off x="4754880" y="2829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냉각수</a:t>
            </a:r>
            <a:endParaRPr lang="en-US" sz="11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E1792E16-8110-36F1-BCA5-A7EAC2A8C93F}"/>
              </a:ext>
            </a:extLst>
          </p:cNvPr>
          <p:cNvSpPr/>
          <p:nvPr/>
        </p:nvSpPr>
        <p:spPr>
          <a:xfrm>
            <a:off x="6903720" y="2829984"/>
            <a:ext cx="2103120" cy="3200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BA79D140-2800-89BF-EB37-67C502B0382E}"/>
              </a:ext>
            </a:extLst>
          </p:cNvPr>
          <p:cNvSpPr/>
          <p:nvPr/>
        </p:nvSpPr>
        <p:spPr>
          <a:xfrm>
            <a:off x="6903720" y="2829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비율</a:t>
            </a:r>
            <a:endParaRPr lang="en-US" sz="1100" dirty="0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8F5E4A73-9D3B-45A7-D024-AA6299CB6954}"/>
              </a:ext>
            </a:extLst>
          </p:cNvPr>
          <p:cNvSpPr/>
          <p:nvPr/>
        </p:nvSpPr>
        <p:spPr>
          <a:xfrm>
            <a:off x="457200" y="3177456"/>
            <a:ext cx="210312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307EF7FC-E5CE-EAA6-345C-7CF5B14AAFC3}"/>
              </a:ext>
            </a:extLst>
          </p:cNvPr>
          <p:cNvSpPr/>
          <p:nvPr/>
        </p:nvSpPr>
        <p:spPr>
          <a:xfrm>
            <a:off x="457200" y="3177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</a:t>
            </a:r>
            <a:endParaRPr lang="en-US" sz="1000" dirty="0"/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8359FAD7-7022-10E4-AFF3-6E0D37925C58}"/>
              </a:ext>
            </a:extLst>
          </p:cNvPr>
          <p:cNvSpPr/>
          <p:nvPr/>
        </p:nvSpPr>
        <p:spPr>
          <a:xfrm>
            <a:off x="2606040" y="3177456"/>
            <a:ext cx="210312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8C39F7DE-5B37-D3C4-C37E-D2CE7923F251}"/>
              </a:ext>
            </a:extLst>
          </p:cNvPr>
          <p:cNvSpPr/>
          <p:nvPr/>
        </p:nvSpPr>
        <p:spPr>
          <a:xfrm>
            <a:off x="2606040" y="3177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m³/h</a:t>
            </a:r>
            <a:endParaRPr lang="en-US" sz="1000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BFEE0E64-3FD2-B0FC-10D2-7BA12E2D2FE3}"/>
              </a:ext>
            </a:extLst>
          </p:cNvPr>
          <p:cNvSpPr/>
          <p:nvPr/>
        </p:nvSpPr>
        <p:spPr>
          <a:xfrm>
            <a:off x="4754880" y="3177456"/>
            <a:ext cx="210312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A6D2213E-B21F-E70E-6F91-743BE6C19EA6}"/>
              </a:ext>
            </a:extLst>
          </p:cNvPr>
          <p:cNvSpPr/>
          <p:nvPr/>
        </p:nvSpPr>
        <p:spPr>
          <a:xfrm>
            <a:off x="4754880" y="3177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~9,200 m³/h</a:t>
            </a:r>
            <a:endParaRPr lang="en-US" sz="1000" dirty="0"/>
          </a:p>
        </p:txBody>
      </p:sp>
      <p:sp>
        <p:nvSpPr>
          <p:cNvPr id="24" name="Shape 17">
            <a:extLst>
              <a:ext uri="{FF2B5EF4-FFF2-40B4-BE49-F238E27FC236}">
                <a16:creationId xmlns:a16="http://schemas.microsoft.com/office/drawing/2014/main" id="{0AB8F497-5AEF-4A1F-0FD9-BEBF5EB45FEE}"/>
              </a:ext>
            </a:extLst>
          </p:cNvPr>
          <p:cNvSpPr/>
          <p:nvPr/>
        </p:nvSpPr>
        <p:spPr>
          <a:xfrm>
            <a:off x="6903720" y="3177456"/>
            <a:ext cx="2103120" cy="274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4F2727B1-8FCD-812E-6691-0CC63834CDF3}"/>
              </a:ext>
            </a:extLst>
          </p:cNvPr>
          <p:cNvSpPr/>
          <p:nvPr/>
        </p:nvSpPr>
        <p:spPr>
          <a:xfrm>
            <a:off x="6903720" y="31774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74C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 0.1%</a:t>
            </a:r>
            <a:endParaRPr lang="en-US" sz="1000" dirty="0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09C23768-E26B-817D-CD40-41D48579344F}"/>
              </a:ext>
            </a:extLst>
          </p:cNvPr>
          <p:cNvSpPr/>
          <p:nvPr/>
        </p:nvSpPr>
        <p:spPr>
          <a:xfrm>
            <a:off x="457200" y="3479208"/>
            <a:ext cx="21031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ACE97A08-1AFA-ED66-EFC5-9F3432A7E53E}"/>
              </a:ext>
            </a:extLst>
          </p:cNvPr>
          <p:cNvSpPr/>
          <p:nvPr/>
        </p:nvSpPr>
        <p:spPr>
          <a:xfrm>
            <a:off x="457200" y="34792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</a:t>
            </a:r>
            <a:endParaRPr lang="en-US" sz="1000" dirty="0"/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C22568D3-42FC-9B20-231C-9120A6B2582D}"/>
              </a:ext>
            </a:extLst>
          </p:cNvPr>
          <p:cNvSpPr/>
          <p:nvPr/>
        </p:nvSpPr>
        <p:spPr>
          <a:xfrm>
            <a:off x="2606040" y="3479208"/>
            <a:ext cx="21031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BDB8F581-C8A1-3677-7416-8382EDE8D237}"/>
              </a:ext>
            </a:extLst>
          </p:cNvPr>
          <p:cNvSpPr/>
          <p:nvPr/>
        </p:nvSpPr>
        <p:spPr>
          <a:xfrm>
            <a:off x="2606040" y="34792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부분 처리</a:t>
            </a:r>
            <a:endParaRPr lang="en-US" sz="1000" dirty="0"/>
          </a:p>
        </p:txBody>
      </p:sp>
      <p:sp>
        <p:nvSpPr>
          <p:cNvPr id="30" name="Shape 23">
            <a:extLst>
              <a:ext uri="{FF2B5EF4-FFF2-40B4-BE49-F238E27FC236}">
                <a16:creationId xmlns:a16="http://schemas.microsoft.com/office/drawing/2014/main" id="{6D762582-5366-1DB2-5EC3-C66584C12E18}"/>
              </a:ext>
            </a:extLst>
          </p:cNvPr>
          <p:cNvSpPr/>
          <p:nvPr/>
        </p:nvSpPr>
        <p:spPr>
          <a:xfrm>
            <a:off x="4754880" y="3479208"/>
            <a:ext cx="21031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D53886C8-4440-1706-5583-734589F250B0}"/>
              </a:ext>
            </a:extLst>
          </p:cNvPr>
          <p:cNvSpPr/>
          <p:nvPr/>
        </p:nvSpPr>
        <p:spPr>
          <a:xfrm>
            <a:off x="4754880" y="34792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순환량</a:t>
            </a:r>
            <a:endParaRPr lang="en-US" sz="1000" dirty="0"/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996223DF-1A4C-9373-8914-977BF8406C46}"/>
              </a:ext>
            </a:extLst>
          </p:cNvPr>
          <p:cNvSpPr/>
          <p:nvPr/>
        </p:nvSpPr>
        <p:spPr>
          <a:xfrm>
            <a:off x="6903720" y="3479208"/>
            <a:ext cx="21031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04408865-99C1-6CD8-AE2E-A3A791FD745D}"/>
              </a:ext>
            </a:extLst>
          </p:cNvPr>
          <p:cNvSpPr/>
          <p:nvPr/>
        </p:nvSpPr>
        <p:spPr>
          <a:xfrm>
            <a:off x="6903720" y="34792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제한적 영향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5674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C38CA-B23E-2AB6-C627-E6B77284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C84207-0703-546B-BE5E-BC505C9A6D1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CED71E-CAB0-29B5-0E22-15BD2B24F2FC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 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05DCD1-D9A8-7F8A-3495-11F15F1B170A}"/>
              </a:ext>
            </a:extLst>
          </p:cNvPr>
          <p:cNvSpPr txBox="1">
            <a:spLocks/>
          </p:cNvSpPr>
          <p:nvPr/>
        </p:nvSpPr>
        <p:spPr>
          <a:xfrm>
            <a:off x="392088" y="874400"/>
            <a:ext cx="7781425" cy="3649141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/>
              <a:t>2. </a:t>
            </a:r>
            <a:r>
              <a:rPr lang="en-US" b="1" dirty="0" err="1"/>
              <a:t>제거</a:t>
            </a:r>
            <a:r>
              <a:rPr lang="en-US" b="1" dirty="0"/>
              <a:t> </a:t>
            </a:r>
            <a:r>
              <a:rPr lang="en-US" b="1" dirty="0" err="1"/>
              <a:t>효율</a:t>
            </a:r>
            <a:r>
              <a:rPr lang="ko-KR" altLang="en-US" b="1" dirty="0"/>
              <a:t>의 한계점</a:t>
            </a:r>
            <a:endParaRPr lang="en-US" b="1" dirty="0"/>
          </a:p>
          <a:p>
            <a:r>
              <a:rPr lang="en-US" sz="1600" dirty="0" err="1"/>
              <a:t>일반적으로</a:t>
            </a:r>
            <a:r>
              <a:rPr lang="en-US" sz="1600" dirty="0"/>
              <a:t> </a:t>
            </a:r>
            <a:r>
              <a:rPr lang="ko-KR" altLang="en-US" sz="1600" dirty="0"/>
              <a:t>알려진 </a:t>
            </a:r>
            <a:r>
              <a:rPr lang="en-US" altLang="ko-KR" sz="1600" dirty="0"/>
              <a:t>EO</a:t>
            </a:r>
            <a:r>
              <a:rPr lang="ko-KR" altLang="en-US" sz="1600" dirty="0"/>
              <a:t>장치의 평균</a:t>
            </a:r>
            <a:r>
              <a:rPr lang="en-US" sz="1600" dirty="0"/>
              <a:t> </a:t>
            </a:r>
            <a:r>
              <a:rPr lang="en-US" sz="1600" dirty="0" err="1"/>
              <a:t>제거율</a:t>
            </a:r>
            <a:r>
              <a:rPr lang="en-US" sz="2400" dirty="0"/>
              <a:t>:</a:t>
            </a:r>
          </a:p>
          <a:p>
            <a:pPr lvl="1"/>
            <a:r>
              <a:rPr lang="en-US" sz="2200" dirty="0" err="1"/>
              <a:t>경도</a:t>
            </a:r>
            <a:r>
              <a:rPr lang="en-US" sz="2200" dirty="0"/>
              <a:t>: ~10–20% (SIN060: </a:t>
            </a:r>
            <a:r>
              <a:rPr lang="en-US" sz="2200" dirty="0">
                <a:highlight>
                  <a:srgbClr val="FFFF00"/>
                </a:highlight>
              </a:rPr>
              <a:t>-14%)</a:t>
            </a:r>
          </a:p>
          <a:p>
            <a:pPr lvl="1"/>
            <a:r>
              <a:rPr lang="en-US" sz="2200" dirty="0" err="1"/>
              <a:t>전도도</a:t>
            </a:r>
            <a:r>
              <a:rPr lang="en-US" sz="2200" dirty="0"/>
              <a:t> / TDS: ~4–10%</a:t>
            </a:r>
            <a:r>
              <a:rPr lang="en-US" altLang="ko-KR" sz="2200" dirty="0"/>
              <a:t> (SIN060: </a:t>
            </a:r>
            <a:r>
              <a:rPr lang="en-US" altLang="ko-KR" sz="2200" dirty="0">
                <a:highlight>
                  <a:srgbClr val="FF0000"/>
                </a:highlight>
              </a:rPr>
              <a:t>-4%</a:t>
            </a:r>
            <a:r>
              <a:rPr lang="en-US" altLang="ko-KR" sz="2200" dirty="0"/>
              <a:t>)</a:t>
            </a:r>
            <a:endParaRPr lang="en-US" sz="2200" dirty="0"/>
          </a:p>
          <a:p>
            <a:pPr lvl="1"/>
            <a:r>
              <a:rPr lang="en-US" sz="2200" dirty="0" err="1"/>
              <a:t>염화물</a:t>
            </a:r>
            <a:r>
              <a:rPr lang="en-US" sz="2200" dirty="0"/>
              <a:t>: ~5–15%</a:t>
            </a:r>
            <a:r>
              <a:rPr lang="en-US" altLang="ko-KR" sz="2200" dirty="0"/>
              <a:t> (SIN060: </a:t>
            </a:r>
            <a:r>
              <a:rPr lang="en-US" altLang="ko-KR" sz="2200" dirty="0">
                <a:highlight>
                  <a:srgbClr val="FF0000"/>
                </a:highlight>
              </a:rPr>
              <a:t>-6%</a:t>
            </a:r>
            <a:r>
              <a:rPr lang="en-US" altLang="ko-KR" sz="2200" dirty="0"/>
              <a:t>)</a:t>
            </a:r>
            <a:endParaRPr lang="en-US" sz="2200" dirty="0"/>
          </a:p>
          <a:p>
            <a:r>
              <a:rPr lang="en-US" sz="1800" b="1" dirty="0" err="1"/>
              <a:t>중간</a:t>
            </a:r>
            <a:r>
              <a:rPr lang="en-US" sz="1800" b="1" dirty="0"/>
              <a:t> </a:t>
            </a:r>
            <a:r>
              <a:rPr lang="en-US" sz="1800" b="1" dirty="0" err="1"/>
              <a:t>수준</a:t>
            </a:r>
            <a:r>
              <a:rPr lang="ko-KR" altLang="en-US" sz="1800" b="1" dirty="0"/>
              <a:t>의 성능</a:t>
            </a:r>
            <a:endParaRPr lang="en-US" sz="1800" b="1" dirty="0"/>
          </a:p>
          <a:p>
            <a:r>
              <a:rPr lang="en-US" dirty="0"/>
              <a:t>👉 </a:t>
            </a:r>
            <a:r>
              <a:rPr lang="ko-KR" altLang="en-US" sz="2200" b="1" u="sng" dirty="0"/>
              <a:t>소규모 처리</a:t>
            </a:r>
            <a:r>
              <a:rPr lang="en-US" sz="2200" b="1" u="sng" dirty="0"/>
              <a:t>와 </a:t>
            </a:r>
            <a:r>
              <a:rPr lang="en-US" sz="2200" b="1" u="sng" dirty="0" err="1"/>
              <a:t>중간</a:t>
            </a:r>
            <a:r>
              <a:rPr lang="en-US" sz="2200" b="1" u="sng" dirty="0"/>
              <a:t> </a:t>
            </a:r>
            <a:r>
              <a:rPr lang="en-US" sz="2200" b="1" u="sng" dirty="0" err="1"/>
              <a:t>수준의</a:t>
            </a:r>
            <a:r>
              <a:rPr lang="en-US" sz="2200" b="1" u="sng" dirty="0"/>
              <a:t> </a:t>
            </a:r>
            <a:r>
              <a:rPr lang="en-US" sz="2200" b="1" u="sng" dirty="0" err="1"/>
              <a:t>제거</a:t>
            </a:r>
            <a:r>
              <a:rPr lang="en-US" sz="2200" b="1" u="sng" dirty="0"/>
              <a:t> </a:t>
            </a:r>
            <a:r>
              <a:rPr lang="en-US" sz="2200" b="1" u="sng" dirty="0" err="1"/>
              <a:t>효율로</a:t>
            </a:r>
            <a:r>
              <a:rPr lang="en-US" sz="2200" b="1" u="sng" dirty="0"/>
              <a:t> </a:t>
            </a:r>
            <a:r>
              <a:rPr lang="en-US" sz="2200" b="1" u="sng" dirty="0" err="1"/>
              <a:t>인해</a:t>
            </a:r>
            <a:r>
              <a:rPr lang="en-US" sz="2200" b="1" u="sng" dirty="0"/>
              <a:t> </a:t>
            </a:r>
            <a:r>
              <a:rPr lang="en-US" sz="2200" b="1" u="sng" dirty="0" err="1"/>
              <a:t>전체</a:t>
            </a:r>
            <a:r>
              <a:rPr lang="en-US" sz="2200" b="1" u="sng" dirty="0"/>
              <a:t> </a:t>
            </a:r>
            <a:r>
              <a:rPr lang="en-US" sz="2200" b="1" u="sng" dirty="0" err="1"/>
              <a:t>시스템</a:t>
            </a:r>
            <a:r>
              <a:rPr lang="en-US" sz="2200" b="1" u="sng" dirty="0"/>
              <a:t> </a:t>
            </a:r>
            <a:r>
              <a:rPr lang="en-US" sz="2200" b="1" u="sng" dirty="0" err="1"/>
              <a:t>수질에</a:t>
            </a:r>
            <a:r>
              <a:rPr lang="en-US" sz="2200" b="1" u="sng" dirty="0"/>
              <a:t> </a:t>
            </a:r>
            <a:r>
              <a:rPr lang="en-US" sz="2200" b="1" u="sng" dirty="0" err="1"/>
              <a:t>미치는</a:t>
            </a:r>
            <a:r>
              <a:rPr lang="en-US" sz="2200" b="1" u="sng" dirty="0"/>
              <a:t> </a:t>
            </a:r>
            <a:r>
              <a:rPr lang="en-US" sz="2200" b="1" u="sng" dirty="0" err="1"/>
              <a:t>영향이</a:t>
            </a:r>
            <a:r>
              <a:rPr lang="en-US" sz="2200" b="1" u="sng" dirty="0"/>
              <a:t> </a:t>
            </a:r>
            <a:r>
              <a:rPr lang="en-US" sz="2200" b="1" u="sng" dirty="0" err="1"/>
              <a:t>제한적입니다</a:t>
            </a:r>
            <a:endParaRPr lang="en-US" sz="2200" b="1" u="sng" dirty="0"/>
          </a:p>
        </p:txBody>
      </p:sp>
    </p:spTree>
    <p:extLst>
      <p:ext uri="{BB962C8B-B14F-4D97-AF65-F5344CB8AC3E}">
        <p14:creationId xmlns:p14="http://schemas.microsoft.com/office/powerpoint/2010/main" val="373489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D90E-7F51-8E32-9903-687E1F85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AB3CC8-1385-4A6F-7F92-A6C2BC83AB15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BF5FA0C-AE73-A469-2B0D-BECF7C83F20D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200" dirty="0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BE83875-5084-2A30-672B-512091CE7C9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42" y="942809"/>
            <a:ext cx="8667951" cy="4062413"/>
          </a:xfrm>
          <a:prstGeom prst="rect">
            <a:avLst/>
          </a:prstGeom>
          <a:noFill/>
        </p:spPr>
      </p:pic>
      <p:cxnSp>
        <p:nvCxnSpPr>
          <p:cNvPr id="6" name="Straight Connector 2">
            <a:extLst>
              <a:ext uri="{FF2B5EF4-FFF2-40B4-BE49-F238E27FC236}">
                <a16:creationId xmlns:a16="http://schemas.microsoft.com/office/drawing/2014/main" id="{532D7FB1-1BD4-1819-88B0-E8D0BADB456D}"/>
              </a:ext>
            </a:extLst>
          </p:cNvPr>
          <p:cNvCxnSpPr/>
          <p:nvPr/>
        </p:nvCxnSpPr>
        <p:spPr>
          <a:xfrm>
            <a:off x="5846356" y="848471"/>
            <a:ext cx="0" cy="410400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F18219B5-DB7F-0AF4-0D70-643E709167FE}"/>
              </a:ext>
            </a:extLst>
          </p:cNvPr>
          <p:cNvCxnSpPr>
            <a:cxnSpLocks/>
          </p:cNvCxnSpPr>
          <p:nvPr/>
        </p:nvCxnSpPr>
        <p:spPr>
          <a:xfrm>
            <a:off x="639695" y="1860000"/>
            <a:ext cx="5211000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0EFA03E2-4E3A-A1E0-2D2A-3DF72BB151F4}"/>
              </a:ext>
            </a:extLst>
          </p:cNvPr>
          <p:cNvCxnSpPr>
            <a:cxnSpLocks/>
          </p:cNvCxnSpPr>
          <p:nvPr/>
        </p:nvCxnSpPr>
        <p:spPr>
          <a:xfrm>
            <a:off x="5846369" y="1535148"/>
            <a:ext cx="2565000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577BC6-DCB5-4687-0457-49A587DC229F}"/>
              </a:ext>
            </a:extLst>
          </p:cNvPr>
          <p:cNvSpPr txBox="1"/>
          <p:nvPr/>
        </p:nvSpPr>
        <p:spPr>
          <a:xfrm>
            <a:off x="1284606" y="1480556"/>
            <a:ext cx="32873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350" dirty="0">
                <a:solidFill>
                  <a:srgbClr val="FF0000"/>
                </a:solidFill>
              </a:rPr>
              <a:t>전도도 1300µS/cm 블로우다운 기준점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A6A924-2C55-80D9-4F49-8686FA9DF0BA}"/>
              </a:ext>
            </a:extLst>
          </p:cNvPr>
          <p:cNvSpPr txBox="1"/>
          <p:nvPr/>
        </p:nvSpPr>
        <p:spPr>
          <a:xfrm>
            <a:off x="5850695" y="1272642"/>
            <a:ext cx="329330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350" dirty="0">
                <a:solidFill>
                  <a:srgbClr val="FF0000"/>
                </a:solidFill>
              </a:rPr>
              <a:t>전도도 1500µS/cm 블로우다운 기준점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FB831-C7A7-52EA-AD90-F0DA0A23BB20}"/>
              </a:ext>
            </a:extLst>
          </p:cNvPr>
          <p:cNvSpPr txBox="1"/>
          <p:nvPr/>
        </p:nvSpPr>
        <p:spPr>
          <a:xfrm>
            <a:off x="4327762" y="539602"/>
            <a:ext cx="347193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350" dirty="0"/>
              <a:t>2024년 11월부터 블로우다운 기준점 변경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3679161-3A58-7C97-0182-CCA357D832E9}"/>
              </a:ext>
            </a:extLst>
          </p:cNvPr>
          <p:cNvSpPr/>
          <p:nvPr/>
        </p:nvSpPr>
        <p:spPr>
          <a:xfrm>
            <a:off x="-16567" y="798724"/>
            <a:ext cx="181011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1500" b="1" dirty="0"/>
              <a:t>데이터 일관성 문제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BE59045-05C6-A001-5121-6B1B08FD0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4374727"/>
            <a:ext cx="4571997" cy="7155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>
                <a:solidFill>
                  <a:srgbClr val="FF0000"/>
                </a:solidFill>
                <a:latin typeface="Arial" panose="020B0604020202020204" pitchFamily="34" charset="0"/>
              </a:rPr>
              <a:t>Y축은 전도도 (µS/cm)로 표시됨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>
                <a:solidFill>
                  <a:srgbClr val="FF0000"/>
                </a:solidFill>
                <a:latin typeface="Arial" panose="020B0604020202020204" pitchFamily="34" charset="0"/>
              </a:rPr>
              <a:t>그러나 </a:t>
            </a:r>
            <a:r>
              <a:rPr lang="en-US" altLang="en-US" sz="1000" dirty="0" err="1">
                <a:solidFill>
                  <a:srgbClr val="FF0000"/>
                </a:solidFill>
                <a:latin typeface="Arial" panose="020B0604020202020204" pitchFamily="34" charset="0"/>
              </a:rPr>
              <a:t>범례는</a:t>
            </a:r>
            <a:r>
              <a:rPr lang="en-US" altLang="en-US" sz="10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00" dirty="0" err="1">
                <a:solidFill>
                  <a:srgbClr val="FF0000"/>
                </a:solidFill>
                <a:latin typeface="Arial" panose="020B0604020202020204" pitchFamily="34" charset="0"/>
              </a:rPr>
              <a:t>총경도</a:t>
            </a:r>
            <a:r>
              <a:rPr lang="en-US" altLang="en-US" sz="1000" dirty="0">
                <a:solidFill>
                  <a:srgbClr val="FF0000"/>
                </a:solidFill>
                <a:latin typeface="Arial" panose="020B0604020202020204" pitchFamily="34" charset="0"/>
              </a:rPr>
              <a:t> (mg/L)를 나타냄 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000" dirty="0">
                <a:solidFill>
                  <a:srgbClr val="FF0000"/>
                </a:solidFill>
                <a:latin typeface="Arial" panose="020B0604020202020204" pitchFamily="34" charset="0"/>
              </a:rPr>
              <a:t>단위 및 매개변수 정의가 일치하지 않음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13E0827-5DE5-18A3-C3D9-F5FBD4C882FE}"/>
              </a:ext>
            </a:extLst>
          </p:cNvPr>
          <p:cNvSpPr/>
          <p:nvPr/>
        </p:nvSpPr>
        <p:spPr>
          <a:xfrm>
            <a:off x="186519" y="1232848"/>
            <a:ext cx="591402" cy="31844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982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6B475-5BB0-3E64-6177-6E831B407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1D28E1-4AE7-6572-BFDF-C0D605297CB6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57CC12-9048-37F4-348E-C1C362599B95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altLang="ko-KR" sz="3200" dirty="0"/>
          </a:p>
        </p:txBody>
      </p:sp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CF4FF7EF-C35A-874A-13F1-A6F4A64A1F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8718178"/>
              </p:ext>
            </p:extLst>
          </p:nvPr>
        </p:nvGraphicFramePr>
        <p:xfrm>
          <a:off x="272242" y="1238817"/>
          <a:ext cx="4831080" cy="26770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FD0EBBD-C23C-A751-9C1E-5B0F1508C6B4}"/>
              </a:ext>
            </a:extLst>
          </p:cNvPr>
          <p:cNvSpPr/>
          <p:nvPr/>
        </p:nvSpPr>
        <p:spPr>
          <a:xfrm>
            <a:off x="252847" y="4245470"/>
            <a:ext cx="3976226" cy="429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05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그림 C.1: 전도도 기준점 상향(1300µS/cm → 1500µS/cm)이 경도(한계: 500ppm) 및 알칼리도(한계: 450ppm)에 미치는 영향</a:t>
            </a:r>
            <a:endParaRPr lang="en-SG" sz="105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78F04E62-9B17-6C9F-3311-F62869A37A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3931428"/>
              </p:ext>
            </p:extLst>
          </p:nvPr>
        </p:nvGraphicFramePr>
        <p:xfrm>
          <a:off x="4423475" y="1238817"/>
          <a:ext cx="4636294" cy="2591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7D168783-0DC1-C939-D936-BB1E8CCB5F30}"/>
              </a:ext>
            </a:extLst>
          </p:cNvPr>
          <p:cNvSpPr/>
          <p:nvPr/>
        </p:nvSpPr>
        <p:spPr>
          <a:xfrm>
            <a:off x="4895533" y="4044999"/>
            <a:ext cx="3854277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US" sz="105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Malgun Gothic" panose="020B0503020000020004" pitchFamily="34" charset="-127"/>
                <a:cs typeface="Times New Roman" panose="02020603050405020304" pitchFamily="18" charset="0"/>
              </a:rPr>
              <a:t>그림 B.1: 2024년 1분기부터  WUE 하강 추세</a:t>
            </a:r>
            <a:endParaRPr lang="en-SG" sz="105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Arrow: Down 5">
            <a:extLst>
              <a:ext uri="{FF2B5EF4-FFF2-40B4-BE49-F238E27FC236}">
                <a16:creationId xmlns:a16="http://schemas.microsoft.com/office/drawing/2014/main" id="{91ABFB22-9FAE-7648-B0F6-D67B4EEA0659}"/>
              </a:ext>
            </a:extLst>
          </p:cNvPr>
          <p:cNvSpPr/>
          <p:nvPr/>
        </p:nvSpPr>
        <p:spPr>
          <a:xfrm>
            <a:off x="6353002" y="1675872"/>
            <a:ext cx="268085" cy="3304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83EFF49C-D778-3A5F-0707-2BF3C2F76A94}"/>
              </a:ext>
            </a:extLst>
          </p:cNvPr>
          <p:cNvCxnSpPr>
            <a:cxnSpLocks/>
          </p:cNvCxnSpPr>
          <p:nvPr/>
        </p:nvCxnSpPr>
        <p:spPr>
          <a:xfrm>
            <a:off x="6487044" y="1310185"/>
            <a:ext cx="0" cy="2605633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8">
            <a:extLst>
              <a:ext uri="{FF2B5EF4-FFF2-40B4-BE49-F238E27FC236}">
                <a16:creationId xmlns:a16="http://schemas.microsoft.com/office/drawing/2014/main" id="{D8DD481B-C474-877A-7744-BB1DDA43A473}"/>
              </a:ext>
            </a:extLst>
          </p:cNvPr>
          <p:cNvCxnSpPr>
            <a:cxnSpLocks/>
          </p:cNvCxnSpPr>
          <p:nvPr/>
        </p:nvCxnSpPr>
        <p:spPr>
          <a:xfrm>
            <a:off x="1624096" y="1542197"/>
            <a:ext cx="1" cy="195475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Down 11">
            <a:extLst>
              <a:ext uri="{FF2B5EF4-FFF2-40B4-BE49-F238E27FC236}">
                <a16:creationId xmlns:a16="http://schemas.microsoft.com/office/drawing/2014/main" id="{6F9FF181-E70E-102E-8E9A-C1B3CD1BA4BE}"/>
              </a:ext>
            </a:extLst>
          </p:cNvPr>
          <p:cNvSpPr/>
          <p:nvPr/>
        </p:nvSpPr>
        <p:spPr>
          <a:xfrm>
            <a:off x="1490055" y="1073601"/>
            <a:ext cx="268085" cy="3304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12" name="Arrow: Down 12">
            <a:extLst>
              <a:ext uri="{FF2B5EF4-FFF2-40B4-BE49-F238E27FC236}">
                <a16:creationId xmlns:a16="http://schemas.microsoft.com/office/drawing/2014/main" id="{2A3E70AE-8669-6AF1-59B5-9CAE09D1BA4D}"/>
              </a:ext>
            </a:extLst>
          </p:cNvPr>
          <p:cNvSpPr/>
          <p:nvPr/>
        </p:nvSpPr>
        <p:spPr>
          <a:xfrm flipH="1" flipV="1">
            <a:off x="1490054" y="3826607"/>
            <a:ext cx="268085" cy="33043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13" name="Arrow: Down 13">
            <a:extLst>
              <a:ext uri="{FF2B5EF4-FFF2-40B4-BE49-F238E27FC236}">
                <a16:creationId xmlns:a16="http://schemas.microsoft.com/office/drawing/2014/main" id="{FCE32A9C-DC5C-0516-260C-ACC28913DA0F}"/>
              </a:ext>
            </a:extLst>
          </p:cNvPr>
          <p:cNvSpPr/>
          <p:nvPr/>
        </p:nvSpPr>
        <p:spPr>
          <a:xfrm flipH="1" flipV="1">
            <a:off x="6353002" y="3793466"/>
            <a:ext cx="268085" cy="330431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9DA990-A489-6469-E55C-7AC21604B362}"/>
              </a:ext>
            </a:extLst>
          </p:cNvPr>
          <p:cNvSpPr txBox="1"/>
          <p:nvPr/>
        </p:nvSpPr>
        <p:spPr>
          <a:xfrm>
            <a:off x="4975085" y="594604"/>
            <a:ext cx="369517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350" dirty="0">
                <a:solidFill>
                  <a:srgbClr val="FF0000"/>
                </a:solidFill>
              </a:rPr>
              <a:t>사항2</a:t>
            </a:r>
            <a:endParaRPr lang="en-US" sz="1350" dirty="0">
              <a:solidFill>
                <a:srgbClr val="FF000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WUE 감소는 2024년 6~7월경부터 시작됨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타임라인상 직접적인 연관성 없음</a:t>
            </a:r>
            <a:endParaRPr lang="en-SG" sz="135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663437-9209-E2CF-A251-E740A0256752}"/>
              </a:ext>
            </a:extLst>
          </p:cNvPr>
          <p:cNvSpPr txBox="1"/>
          <p:nvPr/>
        </p:nvSpPr>
        <p:spPr>
          <a:xfrm>
            <a:off x="351265" y="557205"/>
            <a:ext cx="36951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350" dirty="0">
                <a:solidFill>
                  <a:srgbClr val="FF0000"/>
                </a:solidFill>
              </a:rPr>
              <a:t>사항1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블로우다운 기준점이 2024년 11월에 상향됨</a:t>
            </a:r>
            <a:endParaRPr lang="en-SG" sz="1350" dirty="0">
              <a:solidFill>
                <a:srgbClr val="FF0000"/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228BB82-3CD3-BED3-50C1-536B2ECB3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5497" y="4386021"/>
            <a:ext cx="3971497" cy="57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 err="1">
                <a:solidFill>
                  <a:srgbClr val="FF0000"/>
                </a:solidFill>
                <a:latin typeface="Arial" panose="020B0604020202020204" pitchFamily="34" charset="0"/>
              </a:rPr>
              <a:t>해석</a:t>
            </a:r>
            <a:endParaRPr lang="en-US" altLang="en-US" sz="12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WUE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개선은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EO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변경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이전에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발생하였으며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이는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EO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시스템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성능에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의한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것일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가능성이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낮음을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</a:rPr>
              <a:t>나타냅니다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  <a:endParaRPr lang="en-US" altLang="en-US" sz="3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64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3CD90-FA9E-8B34-F299-A012B9F7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6BC899-1A3F-265F-0585-96E15C838C9D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49B9191-BF81-E72D-D7CE-30B02DDA2D61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altLang="ko-KR" sz="3200" dirty="0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12B77F84-7854-87F8-0D55-0ABE86FC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71" y="640080"/>
            <a:ext cx="7049031" cy="3308882"/>
          </a:xfrm>
          <a:prstGeom prst="rect">
            <a:avLst/>
          </a:prstGeom>
        </p:spPr>
      </p:pic>
      <p:pic>
        <p:nvPicPr>
          <p:cNvPr id="5" name="Picture 2" descr="Our Purpose">
            <a:extLst>
              <a:ext uri="{FF2B5EF4-FFF2-40B4-BE49-F238E27FC236}">
                <a16:creationId xmlns:a16="http://schemas.microsoft.com/office/drawing/2014/main" id="{2F0B2E24-0DE8-8144-1104-26EB41B3E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761" y="2970081"/>
            <a:ext cx="2328863" cy="892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2">
            <a:extLst>
              <a:ext uri="{FF2B5EF4-FFF2-40B4-BE49-F238E27FC236}">
                <a16:creationId xmlns:a16="http://schemas.microsoft.com/office/drawing/2014/main" id="{6A9B5BDC-4E34-9DA8-46BE-99F860044307}"/>
              </a:ext>
            </a:extLst>
          </p:cNvPr>
          <p:cNvSpPr/>
          <p:nvPr/>
        </p:nvSpPr>
        <p:spPr>
          <a:xfrm>
            <a:off x="1005454" y="2598822"/>
            <a:ext cx="396145" cy="23461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CC78A4F7-A7C1-80F7-BEDD-A94B59D898B7}"/>
              </a:ext>
            </a:extLst>
          </p:cNvPr>
          <p:cNvSpPr/>
          <p:nvPr/>
        </p:nvSpPr>
        <p:spPr>
          <a:xfrm>
            <a:off x="5598509" y="2598822"/>
            <a:ext cx="396145" cy="23461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0907DD11-9115-7C00-E800-0B64DF8AF341}"/>
              </a:ext>
            </a:extLst>
          </p:cNvPr>
          <p:cNvSpPr/>
          <p:nvPr/>
        </p:nvSpPr>
        <p:spPr>
          <a:xfrm>
            <a:off x="5598509" y="631659"/>
            <a:ext cx="396145" cy="23461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35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BD99FB-B259-EF30-459D-5E4FE6F62552}"/>
              </a:ext>
            </a:extLst>
          </p:cNvPr>
          <p:cNvCxnSpPr/>
          <p:nvPr/>
        </p:nvCxnSpPr>
        <p:spPr>
          <a:xfrm>
            <a:off x="1401599" y="2716130"/>
            <a:ext cx="4185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10">
            <a:extLst>
              <a:ext uri="{FF2B5EF4-FFF2-40B4-BE49-F238E27FC236}">
                <a16:creationId xmlns:a16="http://schemas.microsoft.com/office/drawing/2014/main" id="{376ECF0A-505A-7406-0A62-B97FEFB160BC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5796581" y="866275"/>
            <a:ext cx="0" cy="173254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455959-8258-FB76-4570-F21976E900D0}"/>
              </a:ext>
            </a:extLst>
          </p:cNvPr>
          <p:cNvSpPr txBox="1"/>
          <p:nvPr/>
        </p:nvSpPr>
        <p:spPr>
          <a:xfrm>
            <a:off x="70122" y="4040402"/>
            <a:ext cx="8659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보고서는 CoC가 ~13에서 ~15로 </a:t>
            </a:r>
            <a:r>
              <a:rPr lang="en-US" sz="1350" dirty="0" err="1">
                <a:solidFill>
                  <a:srgbClr val="FF0000"/>
                </a:solidFill>
              </a:rPr>
              <a:t>증가</a:t>
            </a:r>
            <a:r>
              <a:rPr lang="ko-KR" altLang="en-US" sz="1350" dirty="0">
                <a:solidFill>
                  <a:srgbClr val="FF0000"/>
                </a:solidFill>
              </a:rPr>
              <a:t>했다고 하며</a:t>
            </a:r>
            <a:r>
              <a:rPr lang="en-US" sz="1350" dirty="0">
                <a:solidFill>
                  <a:srgbClr val="FF0000"/>
                </a:solidFill>
              </a:rPr>
              <a:t>, NEA 참고 기준 이에 상응하는 절수 효과는 약 ~1%입니다.</a:t>
            </a:r>
            <a:br>
              <a:rPr lang="en-US" sz="1350" dirty="0">
                <a:solidFill>
                  <a:srgbClr val="FF0000"/>
                </a:solidFill>
              </a:rPr>
            </a:br>
            <a:endParaRPr lang="en-US" sz="1350" dirty="0">
              <a:solidFill>
                <a:srgbClr val="FF000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이는 보고된 ~10% WUE 개선과 현저히 차이가 납니다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따라서 CoC 증가만으로는 보고된 WUE 개선을 설명할 수 없습니다.</a:t>
            </a:r>
            <a:endParaRPr lang="en-SG" sz="13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983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2973-D219-5C1D-2335-D7EEFAED2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FE6EA9-4F9A-E06D-52BA-F55CBC7418E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EC0C60-C3DE-BDBD-1562-D7428F80A4EE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</a:t>
            </a:r>
            <a:endParaRPr lang="en-US" altLang="ko-KR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8DCA35-97AC-DB2D-C417-22094F62FC55}"/>
              </a:ext>
            </a:extLst>
          </p:cNvPr>
          <p:cNvSpPr txBox="1">
            <a:spLocks/>
          </p:cNvSpPr>
          <p:nvPr/>
        </p:nvSpPr>
        <p:spPr>
          <a:xfrm>
            <a:off x="274635" y="747179"/>
            <a:ext cx="8173605" cy="3649141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ko-KR" altLang="en-US" sz="2700" b="1" dirty="0"/>
              <a:t>용수 절감</a:t>
            </a:r>
            <a:r>
              <a:rPr lang="en-US" sz="2700" b="1" dirty="0"/>
              <a:t>(WUE)에 </a:t>
            </a:r>
            <a:r>
              <a:rPr lang="en-US" sz="2700" b="1" dirty="0" err="1"/>
              <a:t>대한</a:t>
            </a:r>
            <a:r>
              <a:rPr lang="en-US" sz="2700" b="1" dirty="0"/>
              <a:t> </a:t>
            </a:r>
            <a:r>
              <a:rPr lang="en-US" sz="2700" b="1" dirty="0" err="1"/>
              <a:t>불명확한</a:t>
            </a:r>
            <a:r>
              <a:rPr lang="en-US" sz="2700" b="1" dirty="0"/>
              <a:t> </a:t>
            </a:r>
            <a:r>
              <a:rPr lang="en-US" sz="2700" b="1" dirty="0" err="1"/>
              <a:t>영향</a:t>
            </a:r>
            <a:endParaRPr lang="en-US" sz="2700" b="1" dirty="0"/>
          </a:p>
          <a:p>
            <a:r>
              <a:rPr lang="en-US" sz="1600" dirty="0"/>
              <a:t>WUE </a:t>
            </a:r>
            <a:r>
              <a:rPr lang="en-US" sz="1600" dirty="0" err="1"/>
              <a:t>개선</a:t>
            </a:r>
            <a:r>
              <a:rPr lang="en-US" sz="1600" dirty="0"/>
              <a:t>(~10%)이 </a:t>
            </a:r>
            <a:r>
              <a:rPr lang="en-US" sz="1600" dirty="0" err="1"/>
              <a:t>보고됨</a:t>
            </a:r>
            <a:endParaRPr lang="en-US" sz="1600" dirty="0"/>
          </a:p>
          <a:p>
            <a:r>
              <a:rPr lang="en-US" sz="1600" dirty="0" err="1"/>
              <a:t>그러나</a:t>
            </a:r>
            <a:r>
              <a:rPr lang="en-US" sz="1600" dirty="0"/>
              <a:t> </a:t>
            </a:r>
            <a:r>
              <a:rPr lang="en-US" sz="1600" dirty="0" err="1"/>
              <a:t>추세</a:t>
            </a:r>
            <a:r>
              <a:rPr lang="en-US" sz="1600" dirty="0"/>
              <a:t> </a:t>
            </a:r>
            <a:r>
              <a:rPr lang="en-US" sz="1600" dirty="0" err="1"/>
              <a:t>분석에</a:t>
            </a:r>
            <a:r>
              <a:rPr lang="en-US" sz="1600" dirty="0"/>
              <a:t> </a:t>
            </a:r>
            <a:r>
              <a:rPr lang="en-US" sz="1600" dirty="0" err="1"/>
              <a:t>따르면</a:t>
            </a:r>
            <a:r>
              <a:rPr lang="en-US" sz="1600" dirty="0"/>
              <a:t>:</a:t>
            </a:r>
          </a:p>
          <a:p>
            <a:pPr lvl="1"/>
            <a:r>
              <a:rPr lang="en-US" sz="1600" b="1" u="sng" dirty="0" err="1"/>
              <a:t>WUE개선이</a:t>
            </a:r>
            <a:r>
              <a:rPr lang="en-US" sz="1600" b="1" u="sng" dirty="0"/>
              <a:t> EO </a:t>
            </a:r>
            <a:r>
              <a:rPr lang="ko-KR" altLang="en-US" sz="1600" b="1" u="sng" dirty="0"/>
              <a:t>설치</a:t>
            </a:r>
            <a:r>
              <a:rPr lang="en-US" sz="1600" b="1" u="sng" dirty="0"/>
              <a:t> </a:t>
            </a:r>
            <a:r>
              <a:rPr lang="en-US" sz="1600" b="1" u="sng" dirty="0" err="1"/>
              <a:t>이전부터</a:t>
            </a:r>
            <a:r>
              <a:rPr lang="en-US" sz="1600" b="1" u="sng" dirty="0"/>
              <a:t> </a:t>
            </a:r>
            <a:r>
              <a:rPr lang="en-US" sz="1600" b="1" u="sng" dirty="0" err="1"/>
              <a:t>시작됨</a:t>
            </a:r>
            <a:endParaRPr lang="en-US" sz="1600" b="1" u="sng" dirty="0"/>
          </a:p>
          <a:p>
            <a:pPr lvl="1"/>
            <a:r>
              <a:rPr lang="en-US" sz="1600" b="1" u="sng" dirty="0"/>
              <a:t>EO </a:t>
            </a:r>
            <a:r>
              <a:rPr lang="en-US" sz="1600" b="1" u="sng" dirty="0" err="1"/>
              <a:t>운전과의</a:t>
            </a:r>
            <a:r>
              <a:rPr lang="en-US" sz="1600" b="1" u="sng" dirty="0"/>
              <a:t> </a:t>
            </a:r>
            <a:r>
              <a:rPr lang="en-US" sz="1600" b="1" u="sng" dirty="0" err="1"/>
              <a:t>명확한</a:t>
            </a:r>
            <a:r>
              <a:rPr lang="en-US" sz="1600" b="1" u="sng" dirty="0"/>
              <a:t> </a:t>
            </a:r>
            <a:r>
              <a:rPr lang="en-US" sz="1600" b="1" u="sng" dirty="0" err="1"/>
              <a:t>상관관계</a:t>
            </a:r>
            <a:r>
              <a:rPr lang="en-US" sz="1600" b="1" u="sng" dirty="0"/>
              <a:t> </a:t>
            </a:r>
            <a:r>
              <a:rPr lang="en-US" sz="1600" b="1" u="sng" dirty="0" err="1"/>
              <a:t>없음</a:t>
            </a:r>
            <a:endParaRPr lang="en-US" sz="1600" b="1" u="sng" dirty="0"/>
          </a:p>
          <a:p>
            <a:pPr lvl="1"/>
            <a:r>
              <a:rPr lang="en-US" sz="1600" b="1" u="sng" dirty="0"/>
              <a:t>CoC</a:t>
            </a:r>
            <a:r>
              <a:rPr lang="ko-KR" altLang="en-US" sz="1600" b="1" u="sng" dirty="0"/>
              <a:t>를</a:t>
            </a:r>
            <a:r>
              <a:rPr lang="en-US" altLang="ko-KR" sz="1600" b="1" u="sng" dirty="0"/>
              <a:t> 13-&gt;15 </a:t>
            </a:r>
            <a:r>
              <a:rPr lang="ko-KR" altLang="en-US" sz="1600" b="1" u="sng" dirty="0"/>
              <a:t>로 </a:t>
            </a:r>
            <a:r>
              <a:rPr lang="ko-KR" altLang="en-US" sz="1600" b="1" u="sng" dirty="0" err="1"/>
              <a:t>운전했을때의</a:t>
            </a:r>
            <a:r>
              <a:rPr lang="ko-KR" altLang="en-US" sz="1600" b="1" u="sng" dirty="0"/>
              <a:t> 개선은 </a:t>
            </a:r>
            <a:r>
              <a:rPr lang="en-US" altLang="ko-KR" sz="1600" b="1" u="sng" dirty="0"/>
              <a:t>1% </a:t>
            </a:r>
            <a:r>
              <a:rPr lang="ko-KR" altLang="en-US" sz="1600" b="1" u="sng" dirty="0"/>
              <a:t>수준 </a:t>
            </a:r>
            <a:r>
              <a:rPr lang="en-US" altLang="ko-KR" sz="1600" b="1" u="sng" dirty="0"/>
              <a:t>(WUE 1% </a:t>
            </a:r>
            <a:r>
              <a:rPr lang="ko-KR" altLang="en-US" sz="1600" b="1" u="sng" dirty="0"/>
              <a:t>개선 가능</a:t>
            </a:r>
            <a:r>
              <a:rPr lang="en-US" altLang="ko-KR" sz="1600" b="1" u="sng" dirty="0"/>
              <a:t>)</a:t>
            </a:r>
            <a:endParaRPr lang="en-US" sz="1600" b="1" u="sng" dirty="0"/>
          </a:p>
          <a:p>
            <a:pPr marL="171450" lvl="1">
              <a:spcBef>
                <a:spcPts val="750"/>
              </a:spcBef>
            </a:pPr>
            <a:r>
              <a:rPr lang="en-US" sz="1600" dirty="0" err="1"/>
              <a:t>WUE는</a:t>
            </a:r>
            <a:r>
              <a:rPr lang="en-US" sz="1600" dirty="0"/>
              <a:t> </a:t>
            </a:r>
            <a:r>
              <a:rPr lang="en-US" sz="1600" dirty="0" err="1"/>
              <a:t>냉각</a:t>
            </a:r>
            <a:r>
              <a:rPr lang="en-US" sz="1600" dirty="0"/>
              <a:t> </a:t>
            </a:r>
            <a:r>
              <a:rPr lang="en-US" sz="1600" dirty="0" err="1"/>
              <a:t>시스템</a:t>
            </a:r>
            <a:r>
              <a:rPr lang="en-US" sz="1600" dirty="0"/>
              <a:t> </a:t>
            </a:r>
            <a:r>
              <a:rPr lang="en-US" sz="1600" dirty="0" err="1"/>
              <a:t>운전</a:t>
            </a:r>
            <a:r>
              <a:rPr lang="en-US" sz="1600" dirty="0"/>
              <a:t>, IT </a:t>
            </a:r>
            <a:r>
              <a:rPr lang="en-US" sz="1600" dirty="0" err="1"/>
              <a:t>부하</a:t>
            </a:r>
            <a:r>
              <a:rPr lang="en-US" sz="1600" dirty="0"/>
              <a:t>, </a:t>
            </a:r>
            <a:r>
              <a:rPr lang="en-US" sz="1600" dirty="0" err="1"/>
              <a:t>환경</a:t>
            </a:r>
            <a:r>
              <a:rPr lang="en-US" sz="1600" dirty="0"/>
              <a:t> </a:t>
            </a:r>
            <a:r>
              <a:rPr lang="en-US" sz="1600" dirty="0" err="1"/>
              <a:t>조건</a:t>
            </a:r>
            <a:r>
              <a:rPr lang="en-US" sz="1600" dirty="0"/>
              <a:t> 등 </a:t>
            </a:r>
            <a:r>
              <a:rPr lang="en-US" sz="1600" dirty="0" err="1"/>
              <a:t>다양한</a:t>
            </a:r>
            <a:r>
              <a:rPr lang="en-US" sz="1600" dirty="0"/>
              <a:t> </a:t>
            </a:r>
            <a:r>
              <a:rPr lang="en-US" sz="1600" dirty="0" err="1"/>
              <a:t>요인에</a:t>
            </a:r>
            <a:r>
              <a:rPr lang="en-US" sz="1600" dirty="0"/>
              <a:t> </a:t>
            </a:r>
            <a:r>
              <a:rPr lang="en-US" sz="1600" dirty="0" err="1"/>
              <a:t>의해</a:t>
            </a:r>
            <a:r>
              <a:rPr lang="en-US" sz="1600" dirty="0"/>
              <a:t> </a:t>
            </a:r>
            <a:r>
              <a:rPr lang="en-US" sz="1600" dirty="0" err="1"/>
              <a:t>영향을</a:t>
            </a:r>
            <a:r>
              <a:rPr lang="en-US" sz="1600" dirty="0"/>
              <a:t> </a:t>
            </a:r>
            <a:r>
              <a:rPr lang="en-US" sz="1600" dirty="0" err="1"/>
              <a:t>받습니다</a:t>
            </a:r>
            <a:r>
              <a:rPr lang="en-US" sz="1600" dirty="0"/>
              <a:t>.</a:t>
            </a:r>
          </a:p>
          <a:p>
            <a:r>
              <a:rPr lang="en-US" sz="2700" dirty="0"/>
              <a:t>👉 </a:t>
            </a:r>
            <a:r>
              <a:rPr lang="en-US" sz="2700" b="1" dirty="0" err="1"/>
              <a:t>EO와</a:t>
            </a:r>
            <a:r>
              <a:rPr lang="en-US" sz="2700" b="1" dirty="0"/>
              <a:t> WUE </a:t>
            </a:r>
            <a:r>
              <a:rPr lang="en-US" sz="2700" b="1" dirty="0" err="1"/>
              <a:t>개선</a:t>
            </a:r>
            <a:r>
              <a:rPr lang="en-US" sz="2700" b="1" dirty="0"/>
              <a:t> </a:t>
            </a:r>
            <a:r>
              <a:rPr lang="en-US" sz="2700" b="1" dirty="0" err="1"/>
              <a:t>사이의</a:t>
            </a:r>
            <a:r>
              <a:rPr lang="en-US" sz="2700" b="1" dirty="0"/>
              <a:t> </a:t>
            </a:r>
            <a:r>
              <a:rPr lang="en-US" sz="2700" b="1" dirty="0" err="1"/>
              <a:t>인과관계가</a:t>
            </a:r>
            <a:r>
              <a:rPr lang="en-US" sz="2700" b="1" dirty="0"/>
              <a:t> </a:t>
            </a:r>
            <a:r>
              <a:rPr lang="en-US" sz="2700" b="1" dirty="0" err="1"/>
              <a:t>불명확합니다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642136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0F8FF-463B-6754-7FF6-36EEA7B88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4283A0-F86A-C2AE-8389-7A7535DF9B5E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4BC580-24DD-6541-6341-6E83C7EF52F0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 SIN060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사례 검증 포인트</a:t>
            </a:r>
            <a:r>
              <a:rPr lang="en-US" altLang="ko-KR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</a:t>
            </a: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참고 </a:t>
            </a:r>
            <a:endParaRPr lang="en-US" altLang="ko-KR" sz="3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890DCD2-D73D-FE60-10C7-58CC9ED05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997" y="817351"/>
            <a:ext cx="5017841" cy="295354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C86B6584-CB70-1FD5-6772-EC378CD49948}"/>
              </a:ext>
            </a:extLst>
          </p:cNvPr>
          <p:cNvSpPr/>
          <p:nvPr/>
        </p:nvSpPr>
        <p:spPr>
          <a:xfrm>
            <a:off x="3453997" y="3933734"/>
            <a:ext cx="501784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냉각탑 절수를 위한 기술 참고 자료</a:t>
            </a:r>
          </a:p>
          <a:p>
            <a:pPr algn="r"/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1</a:t>
            </a:r>
            <a:r>
              <a:rPr lang="en-US" sz="4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st </a:t>
            </a:r>
            <a:r>
              <a:rPr lang="en-US" sz="10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-Bold"/>
              </a:rPr>
              <a:t>Edition: Nov 2017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6B4494-75E8-941A-EE26-3E6E5AF34E6E}"/>
              </a:ext>
            </a:extLst>
          </p:cNvPr>
          <p:cNvSpPr txBox="1"/>
          <p:nvPr/>
        </p:nvSpPr>
        <p:spPr>
          <a:xfrm>
            <a:off x="207545" y="902368"/>
            <a:ext cx="3246451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 err="1">
                <a:solidFill>
                  <a:srgbClr val="FF0000"/>
                </a:solidFill>
              </a:rPr>
              <a:t>싱가포르</a:t>
            </a:r>
            <a:r>
              <a:rPr lang="en-US" sz="1350" b="1" dirty="0">
                <a:solidFill>
                  <a:srgbClr val="FF0000"/>
                </a:solidFill>
              </a:rPr>
              <a:t> 수질 특성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NEWater(</a:t>
            </a:r>
            <a:r>
              <a:rPr lang="ko-KR" altLang="en-US" sz="1350" dirty="0">
                <a:solidFill>
                  <a:srgbClr val="FF0000"/>
                </a:solidFill>
              </a:rPr>
              <a:t>싱가폴 지역 </a:t>
            </a:r>
            <a:r>
              <a:rPr lang="ko-KR" altLang="en-US" sz="1350" dirty="0" err="1">
                <a:solidFill>
                  <a:srgbClr val="FF0000"/>
                </a:solidFill>
              </a:rPr>
              <a:t>보충수</a:t>
            </a:r>
            <a:r>
              <a:rPr lang="en-US" altLang="ko-KR" sz="1350" dirty="0">
                <a:solidFill>
                  <a:srgbClr val="FF0000"/>
                </a:solidFill>
              </a:rPr>
              <a:t>)</a:t>
            </a:r>
            <a:r>
              <a:rPr lang="en-US" sz="1350" dirty="0">
                <a:solidFill>
                  <a:srgbClr val="FF0000"/>
                </a:solidFill>
              </a:rPr>
              <a:t>는 낮은 경도, 알칼리도, </a:t>
            </a:r>
            <a:r>
              <a:rPr lang="en-US" sz="1350" dirty="0" err="1">
                <a:solidFill>
                  <a:srgbClr val="FF0000"/>
                </a:solidFill>
              </a:rPr>
              <a:t>염화물</a:t>
            </a:r>
            <a:r>
              <a:rPr lang="en-US" sz="1350" dirty="0">
                <a:solidFill>
                  <a:srgbClr val="FF0000"/>
                </a:solidFill>
              </a:rPr>
              <a:t> </a:t>
            </a:r>
            <a:r>
              <a:rPr lang="ko-KR" altLang="en-US" sz="1350" dirty="0">
                <a:solidFill>
                  <a:srgbClr val="FF0000"/>
                </a:solidFill>
              </a:rPr>
              <a:t>수치</a:t>
            </a:r>
            <a:endParaRPr lang="en-US" sz="1350" dirty="0">
              <a:solidFill>
                <a:srgbClr val="FF000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rgbClr val="FF0000"/>
                </a:solidFill>
              </a:rPr>
              <a:t>냉각</a:t>
            </a:r>
            <a:r>
              <a:rPr lang="en-US" sz="1350" dirty="0">
                <a:solidFill>
                  <a:srgbClr val="FF0000"/>
                </a:solidFill>
              </a:rPr>
              <a:t> </a:t>
            </a:r>
            <a:r>
              <a:rPr lang="en-US" sz="1350" dirty="0" err="1">
                <a:solidFill>
                  <a:srgbClr val="FF0000"/>
                </a:solidFill>
              </a:rPr>
              <a:t>시스템은</a:t>
            </a:r>
            <a:r>
              <a:rPr lang="en-US" sz="1350" dirty="0">
                <a:solidFill>
                  <a:srgbClr val="FF0000"/>
                </a:solidFill>
              </a:rPr>
              <a:t> </a:t>
            </a:r>
            <a:r>
              <a:rPr lang="en-US" sz="1350" dirty="0" err="1">
                <a:solidFill>
                  <a:srgbClr val="FF0000"/>
                </a:solidFill>
              </a:rPr>
              <a:t>일반적으로</a:t>
            </a:r>
            <a:r>
              <a:rPr lang="en-US" sz="1350" dirty="0">
                <a:solidFill>
                  <a:srgbClr val="FF0000"/>
                </a:solidFill>
              </a:rPr>
              <a:t> </a:t>
            </a:r>
            <a:r>
              <a:rPr lang="en-US" sz="1350" dirty="0" err="1">
                <a:solidFill>
                  <a:srgbClr val="FF0000"/>
                </a:solidFill>
              </a:rPr>
              <a:t>달성</a:t>
            </a:r>
            <a:r>
              <a:rPr lang="en-US" sz="1350" dirty="0">
                <a:solidFill>
                  <a:srgbClr val="FF0000"/>
                </a:solidFill>
              </a:rPr>
              <a:t> </a:t>
            </a:r>
            <a:r>
              <a:rPr lang="en-US" sz="1350" dirty="0" err="1">
                <a:solidFill>
                  <a:srgbClr val="FF0000"/>
                </a:solidFill>
              </a:rPr>
              <a:t>가능</a:t>
            </a:r>
            <a:r>
              <a:rPr lang="en-US" sz="1350" dirty="0">
                <a:solidFill>
                  <a:srgbClr val="FF0000"/>
                </a:solidFill>
              </a:rPr>
              <a:t>:</a:t>
            </a:r>
          </a:p>
          <a:p>
            <a:pPr marL="557213" lvl="1" indent="-214313">
              <a:buFont typeface="Wingdings" panose="05000000000000000000" pitchFamily="2" charset="2"/>
              <a:buChar char="§"/>
            </a:pPr>
            <a:r>
              <a:rPr lang="en-US" sz="1350" dirty="0" err="1">
                <a:solidFill>
                  <a:srgbClr val="FF0000"/>
                </a:solidFill>
              </a:rPr>
              <a:t>화학</a:t>
            </a:r>
            <a:r>
              <a:rPr lang="en-US" sz="1350" dirty="0">
                <a:solidFill>
                  <a:srgbClr val="FF0000"/>
                </a:solidFill>
              </a:rPr>
              <a:t> </a:t>
            </a:r>
            <a:r>
              <a:rPr lang="en-US" sz="1350" dirty="0" err="1">
                <a:solidFill>
                  <a:srgbClr val="FF0000"/>
                </a:solidFill>
              </a:rPr>
              <a:t>최적화</a:t>
            </a:r>
            <a:r>
              <a:rPr lang="en-US" sz="1350" dirty="0">
                <a:solidFill>
                  <a:srgbClr val="FF0000"/>
                </a:solidFill>
              </a:rPr>
              <a:t> </a:t>
            </a:r>
            <a:r>
              <a:rPr lang="en-US" sz="1350" dirty="0" err="1">
                <a:solidFill>
                  <a:srgbClr val="FF0000"/>
                </a:solidFill>
              </a:rPr>
              <a:t>없이</a:t>
            </a:r>
            <a:r>
              <a:rPr lang="en-US" sz="1350" dirty="0">
                <a:solidFill>
                  <a:srgbClr val="FF0000"/>
                </a:solidFill>
              </a:rPr>
              <a:t> CoC ~10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조건에 따라 ~15 이상까지 가능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SG" sz="1350" dirty="0">
              <a:solidFill>
                <a:srgbClr val="FF0000"/>
              </a:solidFill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높은 CoC 운전은 EO 처리 없이도 달성 가능할 수 있습니다.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</a:rPr>
              <a:t>전체 수질 정보 파악을 위해 AWS 싱가포르 팀과 확인하는 것이 좋습니다</a:t>
            </a:r>
            <a:endParaRPr lang="en-SG" sz="1350" dirty="0">
              <a:solidFill>
                <a:srgbClr val="FF0000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66B35A1-2C68-8D64-2148-C032FF53E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781" y="4183425"/>
            <a:ext cx="6298532" cy="669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0070C0"/>
                </a:solidFill>
                <a:latin typeface="Arial" panose="020B0604020202020204" pitchFamily="34" charset="0"/>
              </a:rPr>
              <a:t>WUE에 대한 종합 결론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solidFill>
                  <a:srgbClr val="0070C0"/>
                </a:solidFill>
                <a:latin typeface="Arial" panose="020B0604020202020204" pitchFamily="34" charset="0"/>
              </a:rPr>
              <a:t>보고된 WUE 개선은 다양한 운전 요인의 영향을 받았을 가능성이 높으며, EO 시스템 </a:t>
            </a:r>
            <a:r>
              <a:rPr lang="en-US" altLang="en-US" sz="1200" dirty="0" err="1">
                <a:solidFill>
                  <a:srgbClr val="0070C0"/>
                </a:solidFill>
                <a:latin typeface="Arial" panose="020B0604020202020204" pitchFamily="34" charset="0"/>
              </a:rPr>
              <a:t>단독으로</a:t>
            </a:r>
            <a:r>
              <a:rPr lang="en-US" altLang="en-US" sz="12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ko-KR" altLang="en-US" sz="1200" dirty="0">
                <a:solidFill>
                  <a:srgbClr val="0070C0"/>
                </a:solidFill>
                <a:latin typeface="Arial" panose="020B0604020202020204" pitchFamily="34" charset="0"/>
              </a:rPr>
              <a:t>달성 할 수 </a:t>
            </a:r>
            <a:r>
              <a:rPr lang="en-US" altLang="en-US" sz="1200" dirty="0" err="1">
                <a:solidFill>
                  <a:srgbClr val="0070C0"/>
                </a:solidFill>
                <a:latin typeface="Arial" panose="020B0604020202020204" pitchFamily="34" charset="0"/>
              </a:rPr>
              <a:t>없습니다</a:t>
            </a:r>
            <a:r>
              <a:rPr lang="en-US" altLang="en-US" sz="1200" dirty="0">
                <a:solidFill>
                  <a:srgbClr val="0070C0"/>
                </a:solidFill>
                <a:latin typeface="Arial" panose="020B0604020202020204" pitchFamily="34" charset="0"/>
              </a:rPr>
              <a:t>.</a:t>
            </a:r>
            <a:endParaRPr lang="en-US" altLang="en-US" sz="3300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152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FF3C-EC26-9FD6-5A1C-3EB39B47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AC83A2-A130-A3D2-BEE3-EB324C303AB0}"/>
              </a:ext>
            </a:extLst>
          </p:cNvPr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F7DB1-666D-87D8-10D4-B4B408DCA441}"/>
              </a:ext>
            </a:extLst>
          </p:cNvPr>
          <p:cNvSpPr txBox="1"/>
          <p:nvPr/>
        </p:nvSpPr>
        <p:spPr>
          <a:xfrm>
            <a:off x="274320" y="102871"/>
            <a:ext cx="4057201" cy="4501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맑은 고딕"/>
              </a:rPr>
              <a:t>추가 참고 사례 (Reference Case)</a:t>
            </a:r>
          </a:p>
          <a:p>
            <a:pPr algn="l"/>
            <a:r>
              <a:rPr sz="975">
                <a:solidFill>
                  <a:srgbClr val="D6E4F0"/>
                </a:solidFill>
                <a:latin typeface="맑은 고딕"/>
              </a:rPr>
              <a:t>AWS SIN060과 동일 지역 (싱가포르 Tampines) 냉각수 처리 운영 데이터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4008DB-F92D-B6B3-6A7C-19EB4C16DC79}"/>
              </a:ext>
            </a:extLst>
          </p:cNvPr>
          <p:cNvSpPr/>
          <p:nvPr/>
        </p:nvSpPr>
        <p:spPr>
          <a:xfrm>
            <a:off x="342900" y="822960"/>
            <a:ext cx="8458200" cy="75438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082E1D-10E3-FD12-9AB8-B5CA0DA57C32}"/>
              </a:ext>
            </a:extLst>
          </p:cNvPr>
          <p:cNvSpPr txBox="1"/>
          <p:nvPr/>
        </p:nvSpPr>
        <p:spPr>
          <a:xfrm>
            <a:off x="480060" y="891540"/>
            <a:ext cx="8183880" cy="542456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975" dirty="0">
                <a:solidFill>
                  <a:srgbClr val="1F3A5F"/>
                </a:solidFill>
                <a:latin typeface="맑은 고딕"/>
              </a:rPr>
              <a:t>📌 </a:t>
            </a:r>
            <a:r>
              <a:rPr sz="975" dirty="0" err="1">
                <a:solidFill>
                  <a:srgbClr val="1F3A5F"/>
                </a:solidFill>
                <a:latin typeface="맑은 고딕"/>
              </a:rPr>
              <a:t>출처</a:t>
            </a:r>
            <a:r>
              <a:rPr sz="975" dirty="0">
                <a:solidFill>
                  <a:srgbClr val="1F3A5F"/>
                </a:solidFill>
                <a:latin typeface="맑은 고딕"/>
              </a:rPr>
              <a:t>: NCH </a:t>
            </a:r>
            <a:r>
              <a:rPr sz="975" dirty="0" err="1">
                <a:solidFill>
                  <a:srgbClr val="1F3A5F"/>
                </a:solidFill>
                <a:latin typeface="맑은 고딕"/>
              </a:rPr>
              <a:t>ChemAqua</a:t>
            </a:r>
            <a:r>
              <a:rPr sz="975" dirty="0">
                <a:solidFill>
                  <a:srgbClr val="1F3A5F"/>
                </a:solidFill>
                <a:latin typeface="맑은 고딕"/>
              </a:rPr>
              <a:t> / </a:t>
            </a:r>
            <a:r>
              <a:rPr sz="975" dirty="0" err="1">
                <a:solidFill>
                  <a:srgbClr val="1F3A5F"/>
                </a:solidFill>
                <a:latin typeface="맑은 고딕"/>
              </a:rPr>
              <a:t>Solenis</a:t>
            </a:r>
            <a:r>
              <a:rPr sz="975" dirty="0">
                <a:solidFill>
                  <a:srgbClr val="1F3A5F"/>
                </a:solidFill>
                <a:latin typeface="맑은 고딕"/>
              </a:rPr>
              <a:t> (Cristina) - 2026년 3월 19일 </a:t>
            </a:r>
            <a:r>
              <a:rPr sz="975" dirty="0" err="1">
                <a:solidFill>
                  <a:srgbClr val="1F3A5F"/>
                </a:solidFill>
                <a:latin typeface="맑은 고딕"/>
              </a:rPr>
              <a:t>작성된</a:t>
            </a:r>
            <a:r>
              <a:rPr sz="975" dirty="0">
                <a:solidFill>
                  <a:srgbClr val="1F3A5F"/>
                </a:solidFill>
                <a:latin typeface="맑은 고딕"/>
              </a:rPr>
              <a:t> SMART FSR (Field Service Report)</a:t>
            </a:r>
          </a:p>
          <a:p>
            <a:pPr algn="l"/>
            <a:r>
              <a:rPr sz="975" dirty="0">
                <a:solidFill>
                  <a:srgbClr val="1F3A5F"/>
                </a:solidFill>
                <a:latin typeface="맑은 고딕"/>
              </a:rPr>
              <a:t>📌 </a:t>
            </a:r>
            <a:r>
              <a:rPr sz="975" dirty="0" err="1">
                <a:solidFill>
                  <a:srgbClr val="1F3A5F"/>
                </a:solidFill>
                <a:latin typeface="맑은 고딕"/>
              </a:rPr>
              <a:t>사이트</a:t>
            </a:r>
            <a:r>
              <a:rPr sz="975" dirty="0">
                <a:solidFill>
                  <a:srgbClr val="1F3A5F"/>
                </a:solidFill>
                <a:latin typeface="맑은 고딕"/>
              </a:rPr>
              <a:t>: Brilliant Engineering Pte Ltd, 6 Tampines Industrial Avenue 5, Singapore</a:t>
            </a:r>
          </a:p>
          <a:p>
            <a:pPr algn="l"/>
            <a:r>
              <a:rPr sz="975" dirty="0">
                <a:solidFill>
                  <a:srgbClr val="1F3A5F"/>
                </a:solidFill>
                <a:latin typeface="맑은 고딕"/>
              </a:rPr>
              <a:t>📌 </a:t>
            </a:r>
            <a:r>
              <a:rPr sz="975" dirty="0" err="1">
                <a:solidFill>
                  <a:srgbClr val="1F3A5F"/>
                </a:solidFill>
                <a:latin typeface="맑은 고딕"/>
              </a:rPr>
              <a:t>핵심</a:t>
            </a:r>
            <a:r>
              <a:rPr sz="975" dirty="0">
                <a:solidFill>
                  <a:srgbClr val="1F3A5F"/>
                </a:solidFill>
                <a:latin typeface="맑은 고딕"/>
              </a:rPr>
              <a:t> </a:t>
            </a:r>
            <a:r>
              <a:rPr sz="975" dirty="0" err="1">
                <a:solidFill>
                  <a:srgbClr val="1F3A5F"/>
                </a:solidFill>
                <a:latin typeface="맑은 고딕"/>
              </a:rPr>
              <a:t>시사점</a:t>
            </a:r>
            <a:r>
              <a:rPr sz="975" dirty="0">
                <a:solidFill>
                  <a:srgbClr val="1F3A5F"/>
                </a:solidFill>
                <a:latin typeface="맑은 고딕"/>
              </a:rPr>
              <a:t>: </a:t>
            </a:r>
            <a:r>
              <a:rPr sz="975" dirty="0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EO </a:t>
            </a:r>
            <a:r>
              <a:rPr sz="975" dirty="0" err="1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시스템</a:t>
            </a:r>
            <a:r>
              <a:rPr sz="975" dirty="0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975" dirty="0" err="1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없이도</a:t>
            </a:r>
            <a:r>
              <a:rPr sz="975" dirty="0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975" dirty="0" err="1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일반</a:t>
            </a:r>
            <a:r>
              <a:rPr sz="975" dirty="0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975" dirty="0" err="1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약품</a:t>
            </a:r>
            <a:r>
              <a:rPr sz="975" dirty="0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 </a:t>
            </a:r>
            <a:r>
              <a:rPr sz="975" dirty="0" err="1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처리만으로</a:t>
            </a:r>
            <a:r>
              <a:rPr sz="975" dirty="0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 CoC 17.16 </a:t>
            </a:r>
            <a:r>
              <a:rPr sz="975" dirty="0" err="1">
                <a:solidFill>
                  <a:srgbClr val="1F3A5F"/>
                </a:solidFill>
                <a:highlight>
                  <a:srgbClr val="FFFF00"/>
                </a:highlight>
                <a:latin typeface="맑은 고딕"/>
              </a:rPr>
              <a:t>달성</a:t>
            </a:r>
            <a:endParaRPr sz="975" dirty="0">
              <a:solidFill>
                <a:srgbClr val="1F3A5F"/>
              </a:solidFill>
              <a:highlight>
                <a:srgbClr val="FFFF00"/>
              </a:highlight>
              <a:latin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1C417-770E-D3ED-F187-37949A84C701}"/>
              </a:ext>
            </a:extLst>
          </p:cNvPr>
          <p:cNvSpPr txBox="1"/>
          <p:nvPr/>
        </p:nvSpPr>
        <p:spPr>
          <a:xfrm>
            <a:off x="342900" y="1714500"/>
            <a:ext cx="4114800" cy="300082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1350" b="1">
                <a:solidFill>
                  <a:srgbClr val="1F3A5F"/>
                </a:solidFill>
                <a:latin typeface="맑은 고딕"/>
              </a:rPr>
              <a:t>현장 개요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707E03-EE59-C99F-E043-AB833C2AD7F1}"/>
              </a:ext>
            </a:extLst>
          </p:cNvPr>
          <p:cNvSpPr/>
          <p:nvPr/>
        </p:nvSpPr>
        <p:spPr>
          <a:xfrm>
            <a:off x="342900" y="2023110"/>
            <a:ext cx="41148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20CA8-0E45-4FE0-1878-7757C556D40C}"/>
              </a:ext>
            </a:extLst>
          </p:cNvPr>
          <p:cNvSpPr txBox="1"/>
          <p:nvPr/>
        </p:nvSpPr>
        <p:spPr>
          <a:xfrm>
            <a:off x="480060" y="2091690"/>
            <a:ext cx="3840480" cy="1680012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▪ 위치: 6 Tampines Industrial Avenue 5, Singapore 528760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▪ AWS SIN060(12 Sunview Drive)과 동일한 Tampines 산업 지역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▪ 동일한 보충수원 사용: NEWater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▪ 측정일: 2026년 3월 19일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▪ 운전 조건: CT1만 가동 중, CT2~4 정지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▪ 처리 방식: 일반 냉각수 약품 처리 (특수 기술 없음)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F45BE-C5F3-B864-1E84-91A5E6F56A9A}"/>
              </a:ext>
            </a:extLst>
          </p:cNvPr>
          <p:cNvSpPr txBox="1"/>
          <p:nvPr/>
        </p:nvSpPr>
        <p:spPr>
          <a:xfrm>
            <a:off x="4800600" y="1714500"/>
            <a:ext cx="4114800" cy="300082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1350" b="1">
                <a:solidFill>
                  <a:srgbClr val="1F3A5F"/>
                </a:solidFill>
                <a:latin typeface="맑은 고딕"/>
              </a:rPr>
              <a:t>핵심 운전 결과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69C4A1-3B28-E24B-D630-B279122A5075}"/>
              </a:ext>
            </a:extLst>
          </p:cNvPr>
          <p:cNvSpPr/>
          <p:nvPr/>
        </p:nvSpPr>
        <p:spPr>
          <a:xfrm>
            <a:off x="4800600" y="2023110"/>
            <a:ext cx="41148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CEBD7-D8FA-F357-89D4-9E0EB28DCDAB}"/>
              </a:ext>
            </a:extLst>
          </p:cNvPr>
          <p:cNvSpPr txBox="1"/>
          <p:nvPr/>
        </p:nvSpPr>
        <p:spPr>
          <a:xfrm>
            <a:off x="4937760" y="2091690"/>
            <a:ext cx="3840480" cy="1680012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✅ 농축 사이클 (CoC): 17.16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✅ 산 주입 없음 (No acid feed)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✅ 특수 프로그램 없음 (No special program)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✅ EO 시스템 없음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✅ 모든 파라미터가 관리범위 (Control Range) 내</a:t>
            </a:r>
          </a:p>
          <a:p>
            <a:pPr algn="l"/>
            <a:endParaRPr sz="938">
              <a:solidFill>
                <a:srgbClr val="444444"/>
              </a:solidFill>
              <a:latin typeface="맑은 고딕"/>
            </a:endParaRPr>
          </a:p>
          <a:p>
            <a:pPr algn="l"/>
            <a:r>
              <a:rPr sz="938">
                <a:solidFill>
                  <a:srgbClr val="444444"/>
                </a:solidFill>
                <a:latin typeface="맑은 고딕"/>
              </a:rPr>
              <a:t>✅ 일반 산화/비산화 살균제 수동 투입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45113F-B598-9416-8F85-F51E24A068B4}"/>
              </a:ext>
            </a:extLst>
          </p:cNvPr>
          <p:cNvSpPr/>
          <p:nvPr/>
        </p:nvSpPr>
        <p:spPr>
          <a:xfrm>
            <a:off x="342900" y="3977640"/>
            <a:ext cx="8458200" cy="6172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95646B-529A-EE31-B635-9DFD880B47A4}"/>
              </a:ext>
            </a:extLst>
          </p:cNvPr>
          <p:cNvSpPr txBox="1"/>
          <p:nvPr/>
        </p:nvSpPr>
        <p:spPr>
          <a:xfrm>
            <a:off x="480060" y="4159293"/>
            <a:ext cx="8183880" cy="253916"/>
          </a:xfrm>
          <a:prstGeom prst="rect">
            <a:avLst/>
          </a:prstGeom>
          <a:noFill/>
        </p:spPr>
        <p:txBody>
          <a:bodyPr wrap="square" lIns="19050" rIns="19050" anchor="ctr">
            <a:spAutoFit/>
          </a:bodyPr>
          <a:lstStyle/>
          <a:p>
            <a:pPr algn="l"/>
            <a:r>
              <a:rPr sz="1050" b="1" dirty="0">
                <a:solidFill>
                  <a:srgbClr val="FFFFFF"/>
                </a:solidFill>
                <a:latin typeface="맑은 고딕"/>
              </a:rPr>
              <a:t>👉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싱가포르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NEWater의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낮은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경도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/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알칼리도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/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염화물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특성상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EO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처리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없이도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고 CoC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운전이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충분히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달성</a:t>
            </a:r>
            <a:r>
              <a:rPr sz="10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맑은 고딕"/>
              </a:rPr>
              <a:t>가능</a:t>
            </a:r>
            <a:endParaRPr sz="1050" b="1" dirty="0">
              <a:solidFill>
                <a:srgbClr val="FFFFFF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54678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74320" y="102871"/>
            <a:ext cx="4057201" cy="4501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맑은 고딕"/>
              </a:rPr>
              <a:t>추가 참고 사례 (Reference Case)</a:t>
            </a:r>
          </a:p>
          <a:p>
            <a:pPr algn="l"/>
            <a:r>
              <a:rPr sz="975">
                <a:solidFill>
                  <a:srgbClr val="D6E4F0"/>
                </a:solidFill>
                <a:latin typeface="맑은 고딕"/>
              </a:rPr>
              <a:t>AWS SIN060과 동일 지역 (싱가포르 Tampines) 냉각수 처리 운영 데이터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807D77D-7840-F386-C8C2-D7D7071C0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778" y="996286"/>
            <a:ext cx="5598505" cy="40016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74320" y="102871"/>
            <a:ext cx="5009064" cy="4501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맑은 고딕"/>
              </a:rPr>
              <a:t>냉각수 운전 데이터 (6 Tampines Industrial)</a:t>
            </a:r>
          </a:p>
          <a:p>
            <a:pPr algn="l"/>
            <a:r>
              <a:rPr sz="975">
                <a:solidFill>
                  <a:srgbClr val="D6E4F0"/>
                </a:solidFill>
                <a:latin typeface="맑은 고딕"/>
              </a:rPr>
              <a:t>2026년 3월 19일 측정값 - 모든 항목 관리범위 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88670"/>
          <a:ext cx="8572500" cy="3566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측정 항목</a:t>
                      </a:r>
                    </a:p>
                  </a:txBody>
                  <a:tcPr marL="38100" marR="38100" marT="19050" marB="190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NEWater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(보충수)</a:t>
                      </a:r>
                    </a:p>
                  </a:txBody>
                  <a:tcPr marL="38100" marR="38100" marT="19050" marB="190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냉각탑수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(Cooling Tower)</a:t>
                      </a:r>
                    </a:p>
                  </a:txBody>
                  <a:tcPr marL="38100" marR="38100" marT="19050" marB="190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냉수</a:t>
                      </a:r>
                    </a:p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(Chilled Water)</a:t>
                      </a:r>
                    </a:p>
                  </a:txBody>
                  <a:tcPr marL="38100" marR="38100" marT="19050" marB="1905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관리 범위</a:t>
                      </a:r>
                    </a:p>
                  </a:txBody>
                  <a:tcPr marL="38100" marR="38100" marT="19050" marB="19050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전도도 (µS/cm)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81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1,390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1,142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CT: 0–1,500 / CHW: 0–3,500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pH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7.57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8.91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10.36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CT: 7–9 / CHW: 8.5–11.5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총 알칼리도 (ppm CaCO₃)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260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0–500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칼슘 경도 (ppm CaCO₃)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144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0–500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염화물 (ppm)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124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0–400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총 철 (ppm)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0.01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0.24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0–3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PTSA (ppb) — 트레이서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86.3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40–300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아질산염 NaNO₂ (ppm)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852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600–1,500</a:t>
                      </a:r>
                    </a:p>
                  </a:txBody>
                  <a:tcPr marL="38100" marR="38100" marT="19050" marB="19050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19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아질산염 NO₂ (ppm)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568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444444"/>
                          </a:solidFill>
                          <a:latin typeface="맑은 고딕"/>
                        </a:rPr>
                        <a:t>400–1,200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203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F3A5F"/>
                          </a:solidFill>
                          <a:latin typeface="맑은 고딕"/>
                        </a:rPr>
                        <a:t>농축 사이클 (CoC)</a:t>
                      </a:r>
                    </a:p>
                  </a:txBody>
                  <a:tcPr marL="38100" marR="38100" marT="19050" marB="190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3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32"/>
                          </a:solidFill>
                          <a:latin typeface="맑은 고딕"/>
                        </a:rPr>
                        <a:t>17.16</a:t>
                      </a:r>
                    </a:p>
                  </a:txBody>
                  <a:tcPr marL="38100" marR="38100" marT="19050" marB="190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3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7D32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38100" marR="38100" marT="19050" marB="19050"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457700"/>
            <a:ext cx="8595360" cy="346249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825">
                <a:solidFill>
                  <a:srgbClr val="444444"/>
                </a:solidFill>
                <a:latin typeface="맑은 고딕"/>
              </a:rPr>
              <a:t>※ 냉각탑 4기 중 CT1만 가동, 시료 채취 중 블로우다운 진행 중</a:t>
            </a:r>
          </a:p>
          <a:p>
            <a:pPr algn="l"/>
            <a:r>
              <a:rPr sz="825">
                <a:solidFill>
                  <a:srgbClr val="444444"/>
                </a:solidFill>
                <a:latin typeface="맑은 고딕"/>
              </a:rPr>
              <a:t>※ 산화/비산화 살균제 수동 투입, 자동 약품 주입 시스템(스키드) 정상 작동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274320" y="102871"/>
            <a:ext cx="2635337" cy="45012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950" b="1">
                <a:solidFill>
                  <a:srgbClr val="FFFFFF"/>
                </a:solidFill>
                <a:latin typeface="맑은 고딕"/>
              </a:rPr>
              <a:t>본 사례가 시사하는 점</a:t>
            </a:r>
          </a:p>
          <a:p>
            <a:pPr algn="l"/>
            <a:r>
              <a:rPr sz="975">
                <a:solidFill>
                  <a:srgbClr val="D6E4F0"/>
                </a:solidFill>
                <a:latin typeface="맑은 고딕"/>
              </a:rPr>
              <a:t>AWS SIN060 EO 시스템 평가에 대한 추가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891540"/>
            <a:ext cx="8458200" cy="1165860"/>
          </a:xfrm>
          <a:prstGeom prst="rect">
            <a:avLst/>
          </a:prstGeom>
          <a:solidFill>
            <a:srgbClr val="FFFFFF"/>
          </a:solidFill>
          <a:ln w="9525">
            <a:solidFill>
              <a:srgbClr val="2E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Rectangle 4"/>
          <p:cNvSpPr/>
          <p:nvPr/>
        </p:nvSpPr>
        <p:spPr>
          <a:xfrm>
            <a:off x="342900" y="891540"/>
            <a:ext cx="123444" cy="1165860"/>
          </a:xfrm>
          <a:prstGeom prst="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582930" y="960120"/>
            <a:ext cx="8183880" cy="265457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1125" b="1" dirty="0">
                <a:solidFill>
                  <a:srgbClr val="1F3A5F"/>
                </a:solidFill>
                <a:latin typeface="맑은 고딕"/>
              </a:rPr>
              <a:t>1. EO </a:t>
            </a:r>
            <a:r>
              <a:rPr sz="1125" b="1" dirty="0" err="1">
                <a:solidFill>
                  <a:srgbClr val="1F3A5F"/>
                </a:solidFill>
                <a:latin typeface="맑은 고딕"/>
              </a:rPr>
              <a:t>시스템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1F3A5F"/>
                </a:solidFill>
                <a:latin typeface="맑은 고딕"/>
              </a:rPr>
              <a:t>없이도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 고</a:t>
            </a:r>
            <a:r>
              <a:rPr lang="ko-KR" altLang="en-US" sz="1125" b="1" dirty="0">
                <a:solidFill>
                  <a:srgbClr val="1F3A5F"/>
                </a:solidFill>
                <a:latin typeface="맑은 고딕"/>
              </a:rPr>
              <a:t>농축</a:t>
            </a:r>
            <a:r>
              <a:rPr lang="en-US" altLang="ko-KR" sz="1125" b="1" dirty="0">
                <a:solidFill>
                  <a:srgbClr val="1F3A5F"/>
                </a:solidFill>
                <a:latin typeface="맑은 고딕"/>
              </a:rPr>
              <a:t>(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CoC</a:t>
            </a:r>
            <a:r>
              <a:rPr lang="en-US" sz="1125" b="1" dirty="0">
                <a:solidFill>
                  <a:srgbClr val="1F3A5F"/>
                </a:solidFill>
                <a:latin typeface="맑은 고딕"/>
              </a:rPr>
              <a:t>)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1F3A5F"/>
                </a:solidFill>
                <a:latin typeface="맑은 고딕"/>
              </a:rPr>
              <a:t>운전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1F3A5F"/>
                </a:solidFill>
                <a:latin typeface="맑은 고딕"/>
              </a:rPr>
              <a:t>가능함이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1F3A5F"/>
                </a:solidFill>
                <a:latin typeface="맑은 고딕"/>
              </a:rPr>
              <a:t>실제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1F3A5F"/>
                </a:solidFill>
                <a:latin typeface="맑은 고딕"/>
              </a:rPr>
              <a:t>사례로</a:t>
            </a:r>
            <a:r>
              <a:rPr sz="1125" b="1" dirty="0">
                <a:solidFill>
                  <a:srgbClr val="1F3A5F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1F3A5F"/>
                </a:solidFill>
                <a:latin typeface="맑은 고딕"/>
              </a:rPr>
              <a:t>입증됨</a:t>
            </a:r>
            <a:endParaRPr sz="1125" b="1" dirty="0">
              <a:solidFill>
                <a:srgbClr val="1F3A5F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2930" y="1268731"/>
            <a:ext cx="8183880" cy="507831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동일 지역(Tampines), 동일 보충수(NEWater) 조건에서 CoC 17.16 달성</a:t>
            </a:r>
          </a:p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AWS SIN060의 보고된 CoC 증가(~13 → ~15)는 EO의 고유 효과로 보기 어려움</a:t>
            </a:r>
          </a:p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슬라이드 17의 분석(NEA 기준 CoC 13→15 절수 효과 ~1%)과 일관됨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" y="2194560"/>
            <a:ext cx="8458200" cy="1165860"/>
          </a:xfrm>
          <a:prstGeom prst="rect">
            <a:avLst/>
          </a:prstGeom>
          <a:solidFill>
            <a:srgbClr val="FFFFFF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Rectangle 8"/>
          <p:cNvSpPr/>
          <p:nvPr/>
        </p:nvSpPr>
        <p:spPr>
          <a:xfrm>
            <a:off x="342900" y="2194560"/>
            <a:ext cx="123444" cy="11658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582930" y="2263140"/>
            <a:ext cx="8183880" cy="265457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1125" b="1" dirty="0">
                <a:solidFill>
                  <a:srgbClr val="2E7D32"/>
                </a:solidFill>
                <a:latin typeface="맑은 고딕"/>
              </a:rPr>
              <a:t>2. </a:t>
            </a:r>
            <a:r>
              <a:rPr sz="1125" b="1" dirty="0" err="1">
                <a:solidFill>
                  <a:srgbClr val="2E7D32"/>
                </a:solidFill>
                <a:latin typeface="맑은 고딕"/>
              </a:rPr>
              <a:t>NEWater의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2E7D32"/>
                </a:solidFill>
                <a:latin typeface="맑은 고딕"/>
              </a:rPr>
              <a:t>우수한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2E7D32"/>
                </a:solidFill>
                <a:latin typeface="맑은 고딕"/>
              </a:rPr>
              <a:t>수질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2E7D32"/>
                </a:solidFill>
                <a:latin typeface="맑은 고딕"/>
              </a:rPr>
              <a:t>특성이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 고</a:t>
            </a:r>
            <a:r>
              <a:rPr lang="ko-KR" altLang="en-US" sz="1125" b="1" dirty="0">
                <a:solidFill>
                  <a:srgbClr val="2E7D32"/>
                </a:solidFill>
                <a:latin typeface="맑은 고딕"/>
              </a:rPr>
              <a:t>농축</a:t>
            </a:r>
            <a:r>
              <a:rPr lang="en-US" altLang="ko-KR" sz="1125" b="1" dirty="0">
                <a:solidFill>
                  <a:srgbClr val="2E7D32"/>
                </a:solidFill>
                <a:latin typeface="맑은 고딕"/>
              </a:rPr>
              <a:t>(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CoC</a:t>
            </a:r>
            <a:r>
              <a:rPr lang="en-US" sz="1125" b="1" dirty="0">
                <a:solidFill>
                  <a:srgbClr val="2E7D32"/>
                </a:solidFill>
                <a:latin typeface="맑은 고딕"/>
              </a:rPr>
              <a:t>)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2E7D32"/>
                </a:solidFill>
                <a:latin typeface="맑은 고딕"/>
              </a:rPr>
              <a:t>운전을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 </a:t>
            </a:r>
            <a:r>
              <a:rPr sz="1125" b="1" dirty="0" err="1">
                <a:solidFill>
                  <a:srgbClr val="2E7D32"/>
                </a:solidFill>
                <a:latin typeface="맑은 고딕"/>
              </a:rPr>
              <a:t>가능케</a:t>
            </a:r>
            <a:r>
              <a:rPr sz="1125" b="1" dirty="0">
                <a:solidFill>
                  <a:srgbClr val="2E7D32"/>
                </a:solidFill>
                <a:latin typeface="맑은 고딕"/>
              </a:rPr>
              <a:t> 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" y="2571751"/>
            <a:ext cx="8183880" cy="507831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보충수 전도도 81 µS/cm로 매우 낮음 → 농축 여유도 큼</a:t>
            </a:r>
          </a:p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일반 약품 처리만으로 pH 8.91, 알칼리도 260 ppm, 염화물 124 ppm 안정 유지</a:t>
            </a:r>
          </a:p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산 주입 없이도 모든 파라미터가 관리범위 내 운전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" y="3497580"/>
            <a:ext cx="8458200" cy="1165860"/>
          </a:xfrm>
          <a:prstGeom prst="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3" name="Rectangle 12"/>
          <p:cNvSpPr/>
          <p:nvPr/>
        </p:nvSpPr>
        <p:spPr>
          <a:xfrm>
            <a:off x="342900" y="3497580"/>
            <a:ext cx="123444" cy="11658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582930" y="3566160"/>
            <a:ext cx="8183880" cy="265457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1125" b="1">
                <a:solidFill>
                  <a:srgbClr val="C0392B"/>
                </a:solidFill>
                <a:latin typeface="맑은 고딕"/>
              </a:rPr>
              <a:t>3. 한국 적용 시 고려사항 - 수질 차이 주의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930" y="3874771"/>
            <a:ext cx="8183880" cy="507831"/>
          </a:xfrm>
          <a:prstGeom prst="rect">
            <a:avLst/>
          </a:prstGeom>
          <a:noFill/>
        </p:spPr>
        <p:txBody>
          <a:bodyPr wrap="square" lIns="19050" rIns="19050" anchor="t">
            <a:spAutoFit/>
          </a:bodyPr>
          <a:lstStyle/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한국 보충수(상수도/공업용수)는 NEWater 대비 경도·알칼리도가 높을 수 있음</a:t>
            </a:r>
          </a:p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싱가포르 결과를 한국에 직접 적용하기 전 현장별 수질 분석 필수</a:t>
            </a:r>
          </a:p>
          <a:p>
            <a:pPr algn="l"/>
            <a:r>
              <a:rPr sz="900">
                <a:solidFill>
                  <a:srgbClr val="444444"/>
                </a:solidFill>
                <a:latin typeface="맑은 고딕"/>
              </a:rPr>
              <a:t>• EO 도입 검토 전, 기존 약품 처리 최적화로 달성 가능한 CoC 우선 평가 권장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데이터</a:t>
            </a:r>
            <a:endParaRPr lang="en-US" sz="3200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7AAB8637-6E19-DC5C-5D94-2663F6B676E6}"/>
              </a:ext>
            </a:extLst>
          </p:cNvPr>
          <p:cNvSpPr txBox="1">
            <a:spLocks/>
          </p:cNvSpPr>
          <p:nvPr/>
        </p:nvSpPr>
        <p:spPr>
          <a:xfrm>
            <a:off x="628650" y="983582"/>
            <a:ext cx="7781425" cy="3649141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500" b="1" dirty="0"/>
              <a:t>1. </a:t>
            </a:r>
            <a:r>
              <a:rPr lang="en-US" sz="2500" b="1" dirty="0" err="1"/>
              <a:t>절대적</a:t>
            </a:r>
            <a:r>
              <a:rPr lang="en-US" sz="2500" b="1" dirty="0"/>
              <a:t> </a:t>
            </a:r>
            <a:r>
              <a:rPr lang="en-US" sz="2500" b="1" dirty="0" err="1"/>
              <a:t>수질</a:t>
            </a:r>
            <a:r>
              <a:rPr lang="en-US" sz="2500" b="1" dirty="0"/>
              <a:t> </a:t>
            </a:r>
            <a:r>
              <a:rPr lang="en-US" sz="2500" b="1" dirty="0" err="1"/>
              <a:t>데이터</a:t>
            </a:r>
            <a:r>
              <a:rPr lang="en-US" sz="2500" b="1" dirty="0"/>
              <a:t> </a:t>
            </a:r>
            <a:r>
              <a:rPr lang="en-US" sz="2500" b="1" dirty="0" err="1"/>
              <a:t>부재</a:t>
            </a:r>
            <a:endParaRPr lang="en-US" sz="2500" b="1" dirty="0"/>
          </a:p>
          <a:p>
            <a:r>
              <a:rPr lang="en-US" sz="2500" dirty="0" err="1"/>
              <a:t>대부분의</a:t>
            </a:r>
            <a:r>
              <a:rPr lang="en-US" sz="2500" dirty="0"/>
              <a:t> </a:t>
            </a:r>
            <a:r>
              <a:rPr lang="en-US" sz="2500" dirty="0" err="1"/>
              <a:t>결과가</a:t>
            </a:r>
            <a:r>
              <a:rPr lang="en-US" sz="2500" dirty="0"/>
              <a:t> </a:t>
            </a:r>
            <a:r>
              <a:rPr lang="en-US" sz="2500" dirty="0" err="1"/>
              <a:t>백분율</a:t>
            </a:r>
            <a:r>
              <a:rPr lang="en-US" sz="2500" dirty="0"/>
              <a:t>(%)</a:t>
            </a:r>
            <a:r>
              <a:rPr lang="en-US" sz="2500" dirty="0" err="1"/>
              <a:t>로만</a:t>
            </a:r>
            <a:r>
              <a:rPr lang="en-US" sz="2500" dirty="0"/>
              <a:t> </a:t>
            </a:r>
            <a:r>
              <a:rPr lang="en-US" sz="2500" dirty="0" err="1"/>
              <a:t>제시됨</a:t>
            </a:r>
            <a:endParaRPr lang="en-US" sz="2500" dirty="0"/>
          </a:p>
          <a:p>
            <a:r>
              <a:rPr lang="en-US" sz="2500" dirty="0" err="1"/>
              <a:t>실제</a:t>
            </a:r>
            <a:r>
              <a:rPr lang="en-US" sz="2500" dirty="0"/>
              <a:t> </a:t>
            </a:r>
            <a:r>
              <a:rPr lang="en-US" sz="2500" dirty="0" err="1"/>
              <a:t>수치</a:t>
            </a:r>
            <a:r>
              <a:rPr lang="en-US" sz="2500" dirty="0"/>
              <a:t>(mg/L, µS/cm)의 </a:t>
            </a:r>
            <a:r>
              <a:rPr lang="en-US" sz="2500" dirty="0" err="1"/>
              <a:t>일관된</a:t>
            </a:r>
            <a:r>
              <a:rPr lang="en-US" sz="2500" dirty="0"/>
              <a:t> </a:t>
            </a:r>
            <a:r>
              <a:rPr lang="en-US" sz="2500" dirty="0" err="1"/>
              <a:t>보고</a:t>
            </a:r>
            <a:r>
              <a:rPr lang="en-US" sz="2500" dirty="0"/>
              <a:t> </a:t>
            </a:r>
            <a:r>
              <a:rPr lang="en-US" sz="2500" dirty="0" err="1"/>
              <a:t>없음</a:t>
            </a:r>
            <a:endParaRPr lang="en-US" sz="2500" dirty="0"/>
          </a:p>
          <a:p>
            <a:r>
              <a:rPr lang="en-US" sz="2500" dirty="0" err="1">
                <a:solidFill>
                  <a:srgbClr val="0070C0"/>
                </a:solidFill>
              </a:rPr>
              <a:t>싱가포르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NEWater는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불순물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수준이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비교적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낮기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때문에</a:t>
            </a:r>
            <a:r>
              <a:rPr lang="en-US" sz="2500" dirty="0">
                <a:solidFill>
                  <a:srgbClr val="0070C0"/>
                </a:solidFill>
              </a:rPr>
              <a:t>, </a:t>
            </a:r>
            <a:r>
              <a:rPr lang="en-US" sz="2500" dirty="0" err="1">
                <a:solidFill>
                  <a:srgbClr val="0070C0"/>
                </a:solidFill>
              </a:rPr>
              <a:t>백분율만으로는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제거의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실질적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의미를</a:t>
            </a:r>
            <a:r>
              <a:rPr lang="en-US" sz="2500" dirty="0">
                <a:solidFill>
                  <a:srgbClr val="0070C0"/>
                </a:solidFill>
              </a:rPr>
              <a:t> </a:t>
            </a:r>
            <a:r>
              <a:rPr lang="en-US" sz="2500" dirty="0" err="1">
                <a:solidFill>
                  <a:srgbClr val="0070C0"/>
                </a:solidFill>
              </a:rPr>
              <a:t>과대평가할</a:t>
            </a:r>
            <a:r>
              <a:rPr lang="en-US" sz="2500" dirty="0">
                <a:solidFill>
                  <a:srgbClr val="0070C0"/>
                </a:solidFill>
              </a:rPr>
              <a:t> 수 </a:t>
            </a:r>
            <a:r>
              <a:rPr lang="en-US" sz="2500" dirty="0" err="1">
                <a:solidFill>
                  <a:srgbClr val="0070C0"/>
                </a:solidFill>
              </a:rPr>
              <a:t>있습니다</a:t>
            </a:r>
            <a:endParaRPr lang="en-US" sz="2500" dirty="0">
              <a:solidFill>
                <a:srgbClr val="0070C0"/>
              </a:solidFill>
            </a:endParaRPr>
          </a:p>
          <a:p>
            <a:r>
              <a:rPr lang="en-US" sz="2500" dirty="0"/>
              <a:t>👉 </a:t>
            </a:r>
            <a:r>
              <a:rPr lang="ko-KR" altLang="en-US" sz="2500" dirty="0"/>
              <a:t>객관적인 </a:t>
            </a:r>
            <a:r>
              <a:rPr lang="en-US" sz="2500" dirty="0" err="1"/>
              <a:t>실제</a:t>
            </a:r>
            <a:r>
              <a:rPr lang="en-US" sz="2500" dirty="0"/>
              <a:t> </a:t>
            </a:r>
            <a:r>
              <a:rPr lang="en-US" sz="2500" dirty="0" err="1"/>
              <a:t>시스템</a:t>
            </a:r>
            <a:r>
              <a:rPr lang="en-US" sz="2500" dirty="0"/>
              <a:t> </a:t>
            </a:r>
            <a:r>
              <a:rPr lang="en-US" sz="2500" dirty="0" err="1"/>
              <a:t>영향을</a:t>
            </a:r>
            <a:r>
              <a:rPr lang="en-US" sz="2500" dirty="0"/>
              <a:t> </a:t>
            </a:r>
            <a:r>
              <a:rPr lang="en-US" sz="2500" dirty="0" err="1"/>
              <a:t>평가</a:t>
            </a:r>
            <a:r>
              <a:rPr lang="ko-KR" altLang="en-US" sz="2500" dirty="0"/>
              <a:t>가 아닌 해석으로 성능을 평가하게 됩니다</a:t>
            </a:r>
            <a:r>
              <a:rPr lang="en-US" altLang="ko-KR" sz="2500" dirty="0"/>
              <a:t>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77EF-8D9B-65CC-B2A7-FF24BEF0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14CB059-5B77-8935-D85F-7495E8B66B0A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9342C2-27F3-3D47-355F-753C132284E1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데이터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C33359-25DE-BA89-A57E-69519BBF355D}"/>
              </a:ext>
            </a:extLst>
          </p:cNvPr>
          <p:cNvSpPr txBox="1">
            <a:spLocks/>
          </p:cNvSpPr>
          <p:nvPr/>
        </p:nvSpPr>
        <p:spPr>
          <a:xfrm>
            <a:off x="423934" y="897146"/>
            <a:ext cx="7781425" cy="3649141"/>
          </a:xfr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/>
              <a:t>2. </a:t>
            </a:r>
            <a:r>
              <a:rPr lang="ko-KR" altLang="en-US" b="1" dirty="0"/>
              <a:t>냉각수계</a:t>
            </a:r>
            <a:r>
              <a:rPr lang="en-US" b="1" dirty="0"/>
              <a:t> </a:t>
            </a:r>
            <a:r>
              <a:rPr lang="en-US" b="1" dirty="0" err="1"/>
              <a:t>정보</a:t>
            </a:r>
            <a:r>
              <a:rPr lang="en-US" b="1" dirty="0"/>
              <a:t> </a:t>
            </a:r>
            <a:r>
              <a:rPr lang="en-US" b="1" dirty="0" err="1"/>
              <a:t>부재</a:t>
            </a:r>
            <a:endParaRPr lang="en-US" b="1" dirty="0"/>
          </a:p>
          <a:p>
            <a:r>
              <a:rPr lang="en-US" dirty="0" err="1"/>
              <a:t>분석에</a:t>
            </a:r>
            <a:r>
              <a:rPr lang="en-US" dirty="0"/>
              <a:t> </a:t>
            </a:r>
            <a:r>
              <a:rPr lang="en-US" dirty="0" err="1"/>
              <a:t>필요한</a:t>
            </a:r>
            <a:r>
              <a:rPr lang="en-US" dirty="0"/>
              <a:t> </a:t>
            </a:r>
            <a:r>
              <a:rPr lang="en-US" dirty="0" err="1"/>
              <a:t>핵심</a:t>
            </a:r>
            <a:r>
              <a:rPr lang="en-US" dirty="0"/>
              <a:t> </a:t>
            </a:r>
            <a:r>
              <a:rPr lang="en-US" dirty="0" err="1"/>
              <a:t>매개변수</a:t>
            </a:r>
            <a:r>
              <a:rPr lang="en-US" dirty="0"/>
              <a:t> </a:t>
            </a:r>
            <a:r>
              <a:rPr lang="en-US" dirty="0" err="1"/>
              <a:t>누락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보충수</a:t>
            </a:r>
            <a:r>
              <a:rPr lang="en-US" dirty="0"/>
              <a:t> </a:t>
            </a:r>
            <a:r>
              <a:rPr lang="en-US" dirty="0" err="1"/>
              <a:t>유량</a:t>
            </a:r>
            <a:endParaRPr lang="en-US" dirty="0"/>
          </a:p>
          <a:p>
            <a:pPr lvl="1"/>
            <a:r>
              <a:rPr lang="en-US" dirty="0" err="1"/>
              <a:t>블로우다운</a:t>
            </a:r>
            <a:r>
              <a:rPr lang="en-US" dirty="0"/>
              <a:t> </a:t>
            </a:r>
            <a:r>
              <a:rPr lang="en-US" dirty="0" err="1"/>
              <a:t>용량</a:t>
            </a:r>
            <a:endParaRPr lang="en-US" dirty="0"/>
          </a:p>
          <a:p>
            <a:pPr lvl="1"/>
            <a:r>
              <a:rPr lang="en-US" dirty="0" err="1"/>
              <a:t>증발</a:t>
            </a:r>
            <a:r>
              <a:rPr lang="ko-KR" altLang="en-US" dirty="0"/>
              <a:t>량</a:t>
            </a:r>
            <a:endParaRPr lang="en-US" dirty="0"/>
          </a:p>
          <a:p>
            <a:r>
              <a:rPr lang="en-US" dirty="0" err="1"/>
              <a:t>냉각</a:t>
            </a:r>
            <a:r>
              <a:rPr lang="en-US" dirty="0"/>
              <a:t> </a:t>
            </a:r>
            <a:r>
              <a:rPr lang="en-US" dirty="0" err="1"/>
              <a:t>시스템</a:t>
            </a:r>
            <a:r>
              <a:rPr lang="en-US" dirty="0"/>
              <a:t> 내 </a:t>
            </a:r>
            <a:r>
              <a:rPr lang="en-US" dirty="0" err="1"/>
              <a:t>실제</a:t>
            </a:r>
            <a:r>
              <a:rPr lang="en-US" dirty="0"/>
              <a:t> WUE </a:t>
            </a:r>
            <a:r>
              <a:rPr lang="en-US" dirty="0" err="1"/>
              <a:t>구성</a:t>
            </a:r>
            <a:r>
              <a:rPr lang="en-US" dirty="0"/>
              <a:t> </a:t>
            </a:r>
            <a:r>
              <a:rPr lang="en-US" dirty="0" err="1"/>
              <a:t>요소의</a:t>
            </a:r>
            <a:r>
              <a:rPr lang="en-US" dirty="0"/>
              <a:t> </a:t>
            </a:r>
            <a:r>
              <a:rPr lang="en-US" dirty="0" err="1"/>
              <a:t>명확한</a:t>
            </a:r>
            <a:r>
              <a:rPr lang="en-US" dirty="0"/>
              <a:t> </a:t>
            </a:r>
            <a:r>
              <a:rPr lang="en-US" dirty="0" err="1"/>
              <a:t>계산</a:t>
            </a:r>
            <a:r>
              <a:rPr lang="en-US" dirty="0"/>
              <a:t> </a:t>
            </a:r>
            <a:r>
              <a:rPr lang="en-US" dirty="0" err="1"/>
              <a:t>없음</a:t>
            </a:r>
            <a:endParaRPr lang="en-US" dirty="0"/>
          </a:p>
          <a:p>
            <a:r>
              <a:rPr lang="ko-KR" altLang="en-US" dirty="0"/>
              <a:t>실제 수치 </a:t>
            </a:r>
            <a:r>
              <a:rPr lang="en-US" dirty="0" err="1"/>
              <a:t>없이는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WUE </a:t>
            </a:r>
            <a:r>
              <a:rPr lang="ko-KR" altLang="en-US" dirty="0"/>
              <a:t>절감</a:t>
            </a:r>
            <a:r>
              <a:rPr lang="en-US" dirty="0"/>
              <a:t> </a:t>
            </a:r>
            <a:r>
              <a:rPr lang="en-US" dirty="0" err="1"/>
              <a:t>효과를</a:t>
            </a:r>
            <a:r>
              <a:rPr lang="en-US" dirty="0"/>
              <a:t> </a:t>
            </a:r>
            <a:r>
              <a:rPr lang="en-US" dirty="0" err="1"/>
              <a:t>정량화할</a:t>
            </a:r>
            <a:r>
              <a:rPr lang="en-US" dirty="0"/>
              <a:t> 수 </a:t>
            </a:r>
            <a:r>
              <a:rPr lang="en-US" dirty="0" err="1"/>
              <a:t>없음</a:t>
            </a:r>
            <a:endParaRPr lang="en-US" dirty="0"/>
          </a:p>
          <a:p>
            <a:pPr lvl="1"/>
            <a:r>
              <a:rPr lang="en-US" dirty="0"/>
              <a:t>CoC </a:t>
            </a:r>
            <a:r>
              <a:rPr lang="en-US" dirty="0" err="1"/>
              <a:t>증가로</a:t>
            </a:r>
            <a:r>
              <a:rPr lang="en-US" dirty="0"/>
              <a:t> </a:t>
            </a:r>
            <a:r>
              <a:rPr lang="en-US" dirty="0" err="1"/>
              <a:t>인한</a:t>
            </a:r>
            <a:r>
              <a:rPr lang="en-US" dirty="0"/>
              <a:t> </a:t>
            </a:r>
            <a:r>
              <a:rPr lang="en-US" dirty="0" err="1"/>
              <a:t>기여분을</a:t>
            </a:r>
            <a:r>
              <a:rPr lang="en-US" dirty="0"/>
              <a:t> </a:t>
            </a:r>
            <a:r>
              <a:rPr lang="en-US" dirty="0" err="1"/>
              <a:t>검증할</a:t>
            </a:r>
            <a:r>
              <a:rPr lang="en-US" dirty="0"/>
              <a:t> 수 </a:t>
            </a:r>
            <a:r>
              <a:rPr lang="en-US" dirty="0" err="1"/>
              <a:t>없음</a:t>
            </a:r>
            <a:endParaRPr lang="en-US" dirty="0"/>
          </a:p>
          <a:p>
            <a:r>
              <a:rPr lang="en-US" dirty="0"/>
              <a:t>👉 </a:t>
            </a:r>
            <a:r>
              <a:rPr lang="en-US" dirty="0" err="1"/>
              <a:t>보고된</a:t>
            </a:r>
            <a:r>
              <a:rPr lang="en-US" dirty="0"/>
              <a:t> WUE </a:t>
            </a:r>
            <a:r>
              <a:rPr lang="en-US" dirty="0" err="1"/>
              <a:t>개선은</a:t>
            </a:r>
            <a:r>
              <a:rPr lang="en-US" dirty="0"/>
              <a:t> </a:t>
            </a:r>
            <a:r>
              <a:rPr lang="en-US" dirty="0" err="1"/>
              <a:t>검증할</a:t>
            </a:r>
            <a:r>
              <a:rPr lang="en-US" dirty="0"/>
              <a:t> 수 </a:t>
            </a:r>
            <a:r>
              <a:rPr lang="en-US" dirty="0" err="1"/>
              <a:t>없으며</a:t>
            </a:r>
            <a:r>
              <a:rPr lang="en-US" dirty="0"/>
              <a:t>, </a:t>
            </a:r>
            <a:r>
              <a:rPr lang="en-US" dirty="0" err="1"/>
              <a:t>미고려</a:t>
            </a:r>
            <a:r>
              <a:rPr lang="en-US" dirty="0"/>
              <a:t> </a:t>
            </a:r>
            <a:r>
              <a:rPr lang="en-US" dirty="0" err="1"/>
              <a:t>요인의</a:t>
            </a:r>
            <a:r>
              <a:rPr lang="en-US" dirty="0"/>
              <a:t> </a:t>
            </a:r>
            <a:r>
              <a:rPr lang="en-US" dirty="0" err="1"/>
              <a:t>영향을</a:t>
            </a:r>
            <a:r>
              <a:rPr lang="en-US" dirty="0"/>
              <a:t> </a:t>
            </a:r>
            <a:r>
              <a:rPr lang="en-US" dirty="0" err="1"/>
              <a:t>받았을</a:t>
            </a:r>
            <a:r>
              <a:rPr lang="en-US" dirty="0"/>
              <a:t> 수 </a:t>
            </a:r>
            <a:r>
              <a:rPr lang="en-US" dirty="0" err="1"/>
              <a:t>있습니다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679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3390-1D6F-F4A4-EB95-171471FBF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BC6E0EF-4E48-4A95-7CA9-A5353F1CFABF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F7A0C54-DD2C-5B5E-BBAE-DC9BC1A8F75F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데이터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00FF86-CD78-4843-8C2D-E6B4444329C6}"/>
              </a:ext>
            </a:extLst>
          </p:cNvPr>
          <p:cNvSpPr txBox="1">
            <a:spLocks/>
          </p:cNvSpPr>
          <p:nvPr/>
        </p:nvSpPr>
        <p:spPr>
          <a:xfrm>
            <a:off x="269259" y="928991"/>
            <a:ext cx="8633631" cy="3649141"/>
          </a:xfrm>
        </p:spPr>
        <p:txBody>
          <a:bodyPr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/>
              <a:t>3. </a:t>
            </a:r>
            <a:r>
              <a:rPr lang="en-US" b="1" dirty="0" err="1"/>
              <a:t>불명확한</a:t>
            </a:r>
            <a:r>
              <a:rPr lang="en-US" b="1" dirty="0"/>
              <a:t> </a:t>
            </a:r>
            <a:r>
              <a:rPr lang="en-US" b="1" dirty="0" err="1"/>
              <a:t>에너지</a:t>
            </a:r>
            <a:r>
              <a:rPr lang="en-US" b="1" dirty="0"/>
              <a:t> </a:t>
            </a:r>
            <a:r>
              <a:rPr lang="en-US" b="1" dirty="0" err="1"/>
              <a:t>소비</a:t>
            </a:r>
            <a:r>
              <a:rPr lang="en-US" b="1" dirty="0"/>
              <a:t> </a:t>
            </a:r>
            <a:r>
              <a:rPr lang="en-US" b="1" dirty="0" err="1"/>
              <a:t>데이터</a:t>
            </a:r>
            <a:r>
              <a:rPr lang="en-US" b="1" dirty="0"/>
              <a:t> 및 </a:t>
            </a:r>
            <a:r>
              <a:rPr lang="en-US" b="1" dirty="0" err="1"/>
              <a:t>영향</a:t>
            </a:r>
            <a:endParaRPr lang="en-US" b="1" dirty="0"/>
          </a:p>
          <a:p>
            <a:r>
              <a:rPr lang="en-US" dirty="0"/>
              <a:t>EO </a:t>
            </a:r>
            <a:r>
              <a:rPr lang="en-US" dirty="0" err="1"/>
              <a:t>시스템은</a:t>
            </a:r>
            <a:r>
              <a:rPr lang="en-US" dirty="0"/>
              <a:t> </a:t>
            </a:r>
            <a:r>
              <a:rPr lang="en-US" dirty="0" err="1"/>
              <a:t>전력을</a:t>
            </a:r>
            <a:r>
              <a:rPr lang="en-US" dirty="0"/>
              <a:t> </a:t>
            </a:r>
            <a:r>
              <a:rPr lang="en-US" dirty="0" err="1"/>
              <a:t>사용하여</a:t>
            </a:r>
            <a:r>
              <a:rPr lang="en-US" dirty="0"/>
              <a:t> </a:t>
            </a:r>
            <a:r>
              <a:rPr lang="en-US" dirty="0" err="1"/>
              <a:t>운전됩니다</a:t>
            </a:r>
            <a:endParaRPr lang="en-US" dirty="0"/>
          </a:p>
          <a:p>
            <a:r>
              <a:rPr lang="en-US" dirty="0" err="1"/>
              <a:t>보고서에서</a:t>
            </a:r>
            <a:r>
              <a:rPr lang="en-US" dirty="0"/>
              <a:t> 약 ~0.25 kWh/m³</a:t>
            </a:r>
            <a:r>
              <a:rPr lang="ko-KR" altLang="en-US" dirty="0"/>
              <a:t>에 대한 </a:t>
            </a:r>
            <a:r>
              <a:rPr lang="en-US" dirty="0" err="1"/>
              <a:t>기준</a:t>
            </a:r>
            <a:r>
              <a:rPr lang="en-US" dirty="0"/>
              <a:t> 및 </a:t>
            </a:r>
            <a:r>
              <a:rPr lang="en-US" dirty="0" err="1"/>
              <a:t>운전</a:t>
            </a:r>
            <a:r>
              <a:rPr lang="en-US" dirty="0"/>
              <a:t> </a:t>
            </a:r>
            <a:r>
              <a:rPr lang="en-US" dirty="0" err="1"/>
              <a:t>조건이</a:t>
            </a:r>
            <a:r>
              <a:rPr lang="en-US" dirty="0"/>
              <a:t> </a:t>
            </a:r>
            <a:r>
              <a:rPr lang="en-US" dirty="0" err="1"/>
              <a:t>명확히</a:t>
            </a:r>
            <a:r>
              <a:rPr lang="en-US" dirty="0"/>
              <a:t> </a:t>
            </a:r>
            <a:r>
              <a:rPr lang="en-US" dirty="0" err="1"/>
              <a:t>정의되지</a:t>
            </a:r>
            <a:r>
              <a:rPr lang="en-US" dirty="0"/>
              <a:t> </a:t>
            </a:r>
            <a:r>
              <a:rPr lang="en-US" dirty="0" err="1"/>
              <a:t>않았습니다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기준</a:t>
            </a:r>
            <a:r>
              <a:rPr lang="ko-KR" altLang="en-US" dirty="0"/>
              <a:t>이 </a:t>
            </a:r>
            <a:r>
              <a:rPr lang="en-US" altLang="ko-KR" dirty="0"/>
              <a:t>EO</a:t>
            </a:r>
            <a:r>
              <a:rPr lang="ko-KR" altLang="en-US" dirty="0"/>
              <a:t>유닛 처리수라면</a:t>
            </a:r>
            <a:r>
              <a:rPr lang="en-US" altLang="ko-KR" dirty="0"/>
              <a:t>, </a:t>
            </a:r>
            <a:endParaRPr lang="en-US" dirty="0"/>
          </a:p>
          <a:p>
            <a:pPr lvl="1"/>
            <a:r>
              <a:rPr lang="en-US" dirty="0" err="1"/>
              <a:t>전체</a:t>
            </a:r>
            <a:r>
              <a:rPr lang="en-US" dirty="0"/>
              <a:t> </a:t>
            </a:r>
            <a:r>
              <a:rPr lang="en-SG" altLang="ko-KR" dirty="0"/>
              <a:t>8 m³/h 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0.25 kWh/m³ = </a:t>
            </a:r>
            <a:r>
              <a:rPr lang="ko-KR" altLang="en-US" dirty="0"/>
              <a:t>시간당 </a:t>
            </a:r>
            <a:r>
              <a:rPr lang="en-US" altLang="ko-KR" dirty="0"/>
              <a:t>2kW </a:t>
            </a:r>
            <a:r>
              <a:rPr lang="ko-KR" altLang="en-US" dirty="0"/>
              <a:t>소비 </a:t>
            </a:r>
            <a:r>
              <a:rPr lang="en-US" altLang="ko-KR" dirty="0"/>
              <a:t>(</a:t>
            </a:r>
            <a:r>
              <a:rPr lang="ko-KR" altLang="en-US" dirty="0"/>
              <a:t>소량의 전력</a:t>
            </a:r>
            <a:r>
              <a:rPr lang="en-US" altLang="ko-KR" dirty="0"/>
              <a:t>, </a:t>
            </a:r>
            <a:r>
              <a:rPr lang="ko-KR" altLang="en-US" dirty="0"/>
              <a:t>처리효율 저하</a:t>
            </a:r>
            <a:r>
              <a:rPr lang="en-US" altLang="ko-KR" dirty="0"/>
              <a:t>)</a:t>
            </a:r>
            <a:endParaRPr lang="en-US" dirty="0"/>
          </a:p>
          <a:p>
            <a:r>
              <a:rPr lang="en-SG" dirty="0" err="1"/>
              <a:t>시사점</a:t>
            </a:r>
            <a:endParaRPr lang="en-US" dirty="0"/>
          </a:p>
          <a:p>
            <a:pPr lvl="1"/>
            <a:r>
              <a:rPr lang="en-US" dirty="0" err="1"/>
              <a:t>에너지</a:t>
            </a:r>
            <a:r>
              <a:rPr lang="en-US" dirty="0"/>
              <a:t> </a:t>
            </a:r>
            <a:r>
              <a:rPr lang="en-US" dirty="0" err="1"/>
              <a:t>투입이</a:t>
            </a:r>
            <a:r>
              <a:rPr lang="en-US" dirty="0"/>
              <a:t> </a:t>
            </a:r>
            <a:r>
              <a:rPr lang="en-US" dirty="0" err="1"/>
              <a:t>낮은</a:t>
            </a:r>
            <a:r>
              <a:rPr lang="en-US" dirty="0"/>
              <a:t> </a:t>
            </a:r>
            <a:r>
              <a:rPr lang="en-US" dirty="0" err="1"/>
              <a:t>경우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처리</a:t>
            </a:r>
            <a:r>
              <a:rPr lang="en-US" dirty="0"/>
              <a:t> </a:t>
            </a:r>
            <a:r>
              <a:rPr lang="ko-KR" altLang="en-US" dirty="0"/>
              <a:t>결과</a:t>
            </a:r>
            <a:r>
              <a:rPr lang="en-US" dirty="0"/>
              <a:t> </a:t>
            </a:r>
            <a:r>
              <a:rPr lang="en-US" dirty="0" err="1"/>
              <a:t>또한</a:t>
            </a:r>
            <a:r>
              <a:rPr lang="en-US" dirty="0"/>
              <a:t> </a:t>
            </a:r>
            <a:r>
              <a:rPr lang="ko-KR" altLang="en-US" dirty="0"/>
              <a:t>기대보다 낮아질</a:t>
            </a:r>
            <a:r>
              <a:rPr lang="en-US" dirty="0"/>
              <a:t> 수 </a:t>
            </a:r>
            <a:r>
              <a:rPr lang="en-US" dirty="0" err="1"/>
              <a:t>있음</a:t>
            </a:r>
            <a:endParaRPr lang="en-US" dirty="0"/>
          </a:p>
          <a:p>
            <a:pPr lvl="1"/>
            <a:r>
              <a:rPr lang="en-US" dirty="0" err="1"/>
              <a:t>처리</a:t>
            </a:r>
            <a:r>
              <a:rPr lang="en-US" dirty="0"/>
              <a:t> </a:t>
            </a:r>
            <a:r>
              <a:rPr lang="en-US" dirty="0" err="1"/>
              <a:t>효과가</a:t>
            </a:r>
            <a:r>
              <a:rPr lang="en-US" dirty="0"/>
              <a:t> </a:t>
            </a:r>
            <a:r>
              <a:rPr lang="en-US" dirty="0" err="1"/>
              <a:t>크다면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실제</a:t>
            </a:r>
            <a:r>
              <a:rPr lang="en-US" dirty="0"/>
              <a:t> </a:t>
            </a:r>
            <a:r>
              <a:rPr lang="en-US" dirty="0" err="1"/>
              <a:t>에너지</a:t>
            </a:r>
            <a:r>
              <a:rPr lang="en-US" dirty="0"/>
              <a:t> </a:t>
            </a:r>
            <a:r>
              <a:rPr lang="en-US" dirty="0" err="1"/>
              <a:t>소비량이</a:t>
            </a:r>
            <a:r>
              <a:rPr lang="en-US" dirty="0"/>
              <a:t> </a:t>
            </a:r>
            <a:r>
              <a:rPr lang="en-US" dirty="0" err="1"/>
              <a:t>보고값보다</a:t>
            </a:r>
            <a:r>
              <a:rPr lang="en-US" dirty="0"/>
              <a:t> </a:t>
            </a:r>
            <a:r>
              <a:rPr lang="en-US" dirty="0" err="1"/>
              <a:t>높을</a:t>
            </a:r>
            <a:r>
              <a:rPr lang="en-US" dirty="0"/>
              <a:t> 수 </a:t>
            </a:r>
            <a:r>
              <a:rPr lang="en-US" dirty="0" err="1"/>
              <a:t>있음</a:t>
            </a:r>
            <a:endParaRPr lang="en-US" dirty="0"/>
          </a:p>
          <a:p>
            <a:r>
              <a:rPr lang="en-US" dirty="0"/>
              <a:t>👉 </a:t>
            </a:r>
            <a:r>
              <a:rPr lang="en-US" dirty="0" err="1"/>
              <a:t>전반적인</a:t>
            </a:r>
            <a:r>
              <a:rPr lang="en-US" dirty="0"/>
              <a:t> </a:t>
            </a:r>
            <a:r>
              <a:rPr lang="en-US" dirty="0" err="1"/>
              <a:t>효율</a:t>
            </a:r>
            <a:r>
              <a:rPr lang="en-US" dirty="0"/>
              <a:t>, </a:t>
            </a:r>
            <a:r>
              <a:rPr lang="en-US" dirty="0" err="1"/>
              <a:t>에너지</a:t>
            </a:r>
            <a:r>
              <a:rPr lang="en-US" dirty="0"/>
              <a:t> </a:t>
            </a:r>
            <a:r>
              <a:rPr lang="en-US" dirty="0" err="1"/>
              <a:t>영향</a:t>
            </a:r>
            <a:r>
              <a:rPr lang="en-US" dirty="0"/>
              <a:t> 및 </a:t>
            </a:r>
            <a:r>
              <a:rPr lang="en-US" dirty="0" err="1"/>
              <a:t>비용</a:t>
            </a:r>
            <a:r>
              <a:rPr lang="en-US" dirty="0"/>
              <a:t> </a:t>
            </a:r>
            <a:r>
              <a:rPr lang="en-US" dirty="0" err="1"/>
              <a:t>효율성을</a:t>
            </a:r>
            <a:r>
              <a:rPr lang="en-US" dirty="0"/>
              <a:t> </a:t>
            </a:r>
            <a:r>
              <a:rPr lang="en-US" dirty="0" err="1"/>
              <a:t>제대로</a:t>
            </a:r>
            <a:r>
              <a:rPr lang="en-US" dirty="0"/>
              <a:t> </a:t>
            </a:r>
            <a:r>
              <a:rPr lang="en-US" dirty="0" err="1"/>
              <a:t>평가할</a:t>
            </a:r>
            <a:r>
              <a:rPr lang="en-US" dirty="0"/>
              <a:t> 수 </a:t>
            </a:r>
            <a:r>
              <a:rPr lang="en-US" dirty="0" err="1"/>
              <a:t>없습니다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449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DF96-1DA3-C9F3-F08A-9978BC6E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3AE8AB-B7D7-203E-074B-BE3AFF2019D1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DE7261-2DC5-5E09-9FCB-546F1D890D1F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데이터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605BBDE-1460-D03D-B4DD-83973D4DDC7C}"/>
              </a:ext>
            </a:extLst>
          </p:cNvPr>
          <p:cNvSpPr txBox="1">
            <a:spLocks/>
          </p:cNvSpPr>
          <p:nvPr/>
        </p:nvSpPr>
        <p:spPr>
          <a:xfrm>
            <a:off x="628650" y="983582"/>
            <a:ext cx="7781425" cy="3649141"/>
          </a:xfr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SG" b="1"/>
              <a:t>4. 부식 영향 평가 부재</a:t>
            </a:r>
          </a:p>
          <a:p>
            <a:r>
              <a:rPr lang="en-US"/>
              <a:t>냉각수 시스템에서 부식 제어는 핵심 요구사항입니다</a:t>
            </a:r>
            <a:endParaRPr lang="en-US">
              <a:solidFill>
                <a:srgbClr val="0070C0"/>
              </a:solidFill>
            </a:endParaRPr>
          </a:p>
          <a:p>
            <a:r>
              <a:rPr lang="en-SG"/>
              <a:t>다음에 대한 데이터 없음:</a:t>
            </a:r>
          </a:p>
          <a:p>
            <a:pPr lvl="1"/>
            <a:r>
              <a:rPr lang="en-SG"/>
              <a:t>부식 속도 (예: 탄소강, 구리)</a:t>
            </a:r>
          </a:p>
          <a:p>
            <a:pPr lvl="1"/>
            <a:r>
              <a:rPr lang="en-SG"/>
              <a:t>재질 호환성</a:t>
            </a:r>
          </a:p>
          <a:p>
            <a:r>
              <a:rPr lang="en-US"/>
              <a:t>EO는 산화제를 생성하고 국부적 pH 변화를 유발하며, 이 두 가지 모두 부식 거동에 영향을 미칠 수 있습니다</a:t>
            </a:r>
          </a:p>
          <a:p>
            <a:r>
              <a:rPr lang="en-US">
                <a:solidFill>
                  <a:srgbClr val="0070C0"/>
                </a:solidFill>
              </a:rPr>
              <a:t>부식 억제 능력을 입증하는 명확한 메커니즘이나 근거가 제공되지 않았습니다.</a:t>
            </a:r>
          </a:p>
          <a:p>
            <a:r>
              <a:rPr lang="en-SG"/>
              <a:t>👉 </a:t>
            </a:r>
            <a:r>
              <a:rPr lang="en-US" b="1"/>
              <a:t>잠재적 부식 위험이 평가되지 않았으며 장기적인 신뢰성 우려가 있을 수 있습니다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1066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9E01B-8623-513E-B558-B3E985A3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813E83-3B0A-3AC9-B397-49638B1924E9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DDD0F5-D7CC-DFA8-064F-3228B5320C7D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데이터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CB79B7-E252-C484-63F8-CB53B27D1F6D}"/>
              </a:ext>
            </a:extLst>
          </p:cNvPr>
          <p:cNvSpPr txBox="1">
            <a:spLocks/>
          </p:cNvSpPr>
          <p:nvPr/>
        </p:nvSpPr>
        <p:spPr>
          <a:xfrm>
            <a:off x="628650" y="983582"/>
            <a:ext cx="7781425" cy="3649141"/>
          </a:xfrm>
        </p:spPr>
        <p:txBody>
          <a:bodyPr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SG" b="1"/>
              <a:t>5. 미생물 성장 영향 평가 부재</a:t>
            </a:r>
          </a:p>
          <a:p>
            <a:r>
              <a:rPr lang="en-SG"/>
              <a:t>다음에 대한 데이터 없음:</a:t>
            </a:r>
          </a:p>
          <a:p>
            <a:pPr lvl="1"/>
            <a:r>
              <a:rPr lang="en-SG"/>
              <a:t>세균 수 (HPC) 결과</a:t>
            </a:r>
          </a:p>
          <a:p>
            <a:pPr lvl="1"/>
            <a:r>
              <a:rPr lang="en-SG"/>
              <a:t>레지오넬라 검사 결과</a:t>
            </a:r>
          </a:p>
          <a:p>
            <a:r>
              <a:rPr lang="en-US"/>
              <a:t>싱가포르 규제 요건 준수 여부에 대한 정보 없음 (예: 주기적 세척, 소독 및 모니터링)</a:t>
            </a:r>
          </a:p>
          <a:p>
            <a:r>
              <a:rPr lang="en-US">
                <a:solidFill>
                  <a:srgbClr val="0070C0"/>
                </a:solidFill>
              </a:rPr>
              <a:t>측류에서 보고된 ~0.2 ppm의 유리 염소는 주 순환 루프에서 충분한 미생물 제어를 제공하기 어렵습니다</a:t>
            </a:r>
          </a:p>
          <a:p>
            <a:r>
              <a:rPr lang="en-SG"/>
              <a:t>👉 </a:t>
            </a:r>
            <a:r>
              <a:rPr lang="en-US" b="1"/>
              <a:t>잠재적 미생물 성장 위험이 평가되지 않았으며 시스템 안전성 및 규정 준수에 영향을 미칠 수 있습니다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32208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4320-A3C0-637F-F8F5-3FD3080B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664681-92D2-FF1F-C95D-37B7616B0C3B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4D7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4E88A9-D44B-FA43-947D-215E176CF464}"/>
              </a:ext>
            </a:extLst>
          </p:cNvPr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누락 데이터</a:t>
            </a:r>
            <a:endParaRPr lang="en-US" sz="32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DB34D2-2FC1-9E71-FD5C-BA4E7ABCB8BF}"/>
              </a:ext>
            </a:extLst>
          </p:cNvPr>
          <p:cNvSpPr txBox="1">
            <a:spLocks/>
          </p:cNvSpPr>
          <p:nvPr/>
        </p:nvSpPr>
        <p:spPr>
          <a:xfrm>
            <a:off x="628650" y="983582"/>
            <a:ext cx="7781425" cy="3649141"/>
          </a:xfrm>
        </p:spPr>
        <p:txBody>
          <a:bodyPr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/>
              <a:t>6. </a:t>
            </a:r>
            <a:r>
              <a:rPr lang="en-US" b="1" dirty="0" err="1"/>
              <a:t>장기</a:t>
            </a:r>
            <a:r>
              <a:rPr lang="en-US" b="1" dirty="0"/>
              <a:t> </a:t>
            </a:r>
            <a:r>
              <a:rPr lang="en-US" b="1" dirty="0" err="1"/>
              <a:t>성능</a:t>
            </a:r>
            <a:r>
              <a:rPr lang="en-US" b="1" dirty="0"/>
              <a:t> </a:t>
            </a:r>
            <a:r>
              <a:rPr lang="en-US" b="1" dirty="0" err="1"/>
              <a:t>안정성</a:t>
            </a:r>
            <a:r>
              <a:rPr lang="en-US" b="1" dirty="0"/>
              <a:t> </a:t>
            </a:r>
            <a:r>
              <a:rPr lang="ko-KR" altLang="en-US" b="1" dirty="0"/>
              <a:t>정보</a:t>
            </a:r>
            <a:r>
              <a:rPr lang="en-US" b="1" dirty="0"/>
              <a:t> </a:t>
            </a:r>
            <a:r>
              <a:rPr lang="en-US" b="1" dirty="0" err="1"/>
              <a:t>부재</a:t>
            </a:r>
            <a:endParaRPr lang="en-US" b="1" dirty="0"/>
          </a:p>
          <a:p>
            <a:r>
              <a:rPr lang="en-US" dirty="0" err="1"/>
              <a:t>보고서는</a:t>
            </a:r>
            <a:r>
              <a:rPr lang="en-US" dirty="0"/>
              <a:t> ~18개월의 </a:t>
            </a:r>
            <a:r>
              <a:rPr lang="en-US" dirty="0" err="1"/>
              <a:t>운전을</a:t>
            </a:r>
            <a:r>
              <a:rPr lang="en-US" dirty="0"/>
              <a:t> </a:t>
            </a:r>
            <a:r>
              <a:rPr lang="en-US" dirty="0" err="1"/>
              <a:t>보여줍니다</a:t>
            </a:r>
            <a:endParaRPr lang="en-US" dirty="0"/>
          </a:p>
          <a:p>
            <a:r>
              <a:rPr lang="ko-KR" altLang="en-US" dirty="0"/>
              <a:t>장기 운전에 따른 문제점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시간에</a:t>
            </a:r>
            <a:r>
              <a:rPr lang="en-US" dirty="0"/>
              <a:t> </a:t>
            </a:r>
            <a:r>
              <a:rPr lang="en-US" dirty="0" err="1"/>
              <a:t>따른</a:t>
            </a:r>
            <a:r>
              <a:rPr lang="en-US" dirty="0"/>
              <a:t> </a:t>
            </a:r>
            <a:r>
              <a:rPr lang="en-US" dirty="0" err="1"/>
              <a:t>성능</a:t>
            </a:r>
            <a:r>
              <a:rPr lang="en-US" dirty="0"/>
              <a:t> </a:t>
            </a:r>
            <a:r>
              <a:rPr lang="en-US" dirty="0" err="1"/>
              <a:t>저하</a:t>
            </a:r>
            <a:endParaRPr lang="en-US" dirty="0"/>
          </a:p>
          <a:p>
            <a:pPr lvl="1"/>
            <a:r>
              <a:rPr lang="en-US" dirty="0" err="1"/>
              <a:t>유지보수</a:t>
            </a:r>
            <a:r>
              <a:rPr lang="en-US" dirty="0"/>
              <a:t> </a:t>
            </a:r>
            <a:r>
              <a:rPr lang="en-US" dirty="0" err="1"/>
              <a:t>빈도</a:t>
            </a:r>
            <a:r>
              <a:rPr lang="en-US" dirty="0"/>
              <a:t> 및 </a:t>
            </a:r>
            <a:r>
              <a:rPr lang="en-US" dirty="0" err="1"/>
              <a:t>요건</a:t>
            </a:r>
            <a:r>
              <a:rPr lang="en-US" dirty="0"/>
              <a:t> (EO </a:t>
            </a:r>
            <a:r>
              <a:rPr lang="en-US" dirty="0" err="1"/>
              <a:t>시스템은</a:t>
            </a:r>
            <a:r>
              <a:rPr lang="en-US" dirty="0"/>
              <a:t> </a:t>
            </a:r>
            <a:r>
              <a:rPr lang="en-US" dirty="0" err="1"/>
              <a:t>주기적</a:t>
            </a:r>
            <a:r>
              <a:rPr lang="en-US" dirty="0"/>
              <a:t> </a:t>
            </a:r>
            <a:r>
              <a:rPr lang="en-US" dirty="0" err="1"/>
              <a:t>세척이</a:t>
            </a:r>
            <a:r>
              <a:rPr lang="en-US" dirty="0"/>
              <a:t> </a:t>
            </a:r>
            <a:r>
              <a:rPr lang="en-US" dirty="0" err="1"/>
              <a:t>필요할</a:t>
            </a:r>
            <a:r>
              <a:rPr lang="en-US" dirty="0"/>
              <a:t> 수 </a:t>
            </a:r>
            <a:r>
              <a:rPr lang="en-US" dirty="0" err="1"/>
              <a:t>있으며</a:t>
            </a:r>
            <a:r>
              <a:rPr lang="en-US" dirty="0"/>
              <a:t> (예: </a:t>
            </a:r>
            <a:r>
              <a:rPr lang="en-US" dirty="0" err="1"/>
              <a:t>음극</a:t>
            </a:r>
            <a:r>
              <a:rPr lang="en-US" dirty="0"/>
              <a:t> </a:t>
            </a:r>
            <a:r>
              <a:rPr lang="en-US" dirty="0" err="1"/>
              <a:t>스케일</a:t>
            </a:r>
            <a:r>
              <a:rPr lang="en-US" dirty="0"/>
              <a:t> </a:t>
            </a:r>
            <a:r>
              <a:rPr lang="en-US" dirty="0" err="1"/>
              <a:t>제거</a:t>
            </a:r>
            <a:r>
              <a:rPr lang="en-US" dirty="0"/>
              <a:t>), </a:t>
            </a:r>
            <a:r>
              <a:rPr lang="en-US" dirty="0" err="1"/>
              <a:t>성능</a:t>
            </a:r>
            <a:r>
              <a:rPr lang="en-US" dirty="0"/>
              <a:t> </a:t>
            </a:r>
            <a:r>
              <a:rPr lang="en-US" dirty="0" err="1"/>
              <a:t>일관성</a:t>
            </a:r>
            <a:r>
              <a:rPr lang="en-US" dirty="0"/>
              <a:t> 및 </a:t>
            </a:r>
            <a:r>
              <a:rPr lang="en-US" dirty="0" err="1"/>
              <a:t>운전</a:t>
            </a:r>
            <a:r>
              <a:rPr lang="en-US" dirty="0"/>
              <a:t> </a:t>
            </a:r>
            <a:r>
              <a:rPr lang="en-US" dirty="0" err="1"/>
              <a:t>비용에</a:t>
            </a:r>
            <a:r>
              <a:rPr lang="en-US" dirty="0"/>
              <a:t> </a:t>
            </a:r>
            <a:r>
              <a:rPr lang="en-US" dirty="0" err="1"/>
              <a:t>영향을</a:t>
            </a:r>
            <a:r>
              <a:rPr lang="en-US" dirty="0"/>
              <a:t> </a:t>
            </a:r>
            <a:r>
              <a:rPr lang="en-US" dirty="0" err="1"/>
              <a:t>미칠</a:t>
            </a:r>
            <a:r>
              <a:rPr lang="en-US" dirty="0"/>
              <a:t> 수 </a:t>
            </a:r>
            <a:r>
              <a:rPr lang="en-US" dirty="0" err="1"/>
              <a:t>있습니다</a:t>
            </a:r>
            <a:r>
              <a:rPr lang="en-US" dirty="0"/>
              <a:t>.)</a:t>
            </a:r>
          </a:p>
          <a:p>
            <a:pPr lvl="1"/>
            <a:r>
              <a:rPr lang="en-US" dirty="0" err="1"/>
              <a:t>전극</a:t>
            </a:r>
            <a:r>
              <a:rPr lang="en-US" dirty="0"/>
              <a:t> </a:t>
            </a:r>
            <a:r>
              <a:rPr lang="en-US" dirty="0" err="1"/>
              <a:t>파울링</a:t>
            </a:r>
            <a:r>
              <a:rPr lang="en-US" dirty="0"/>
              <a:t> </a:t>
            </a:r>
            <a:r>
              <a:rPr lang="en-US" dirty="0" err="1"/>
              <a:t>또는</a:t>
            </a:r>
            <a:r>
              <a:rPr lang="en-US" dirty="0"/>
              <a:t> </a:t>
            </a:r>
            <a:r>
              <a:rPr lang="en-US" dirty="0" err="1"/>
              <a:t>스케일링</a:t>
            </a:r>
            <a:endParaRPr lang="en-US" dirty="0"/>
          </a:p>
          <a:p>
            <a:r>
              <a:rPr lang="en-US" dirty="0"/>
              <a:t>👉 </a:t>
            </a:r>
            <a:r>
              <a:rPr lang="en-US" b="1" dirty="0" err="1"/>
              <a:t>장기</a:t>
            </a:r>
            <a:r>
              <a:rPr lang="en-US" b="1" dirty="0"/>
              <a:t> </a:t>
            </a:r>
            <a:r>
              <a:rPr lang="en-US" b="1" dirty="0" err="1"/>
              <a:t>운전</a:t>
            </a:r>
            <a:r>
              <a:rPr lang="en-US" b="1" dirty="0"/>
              <a:t> 및 </a:t>
            </a:r>
            <a:r>
              <a:rPr lang="en-US" b="1" dirty="0" err="1"/>
              <a:t>유지보수</a:t>
            </a:r>
            <a:r>
              <a:rPr lang="en-US" b="1" dirty="0"/>
              <a:t> </a:t>
            </a:r>
            <a:r>
              <a:rPr lang="en-US" b="1" dirty="0" err="1"/>
              <a:t>데이터</a:t>
            </a:r>
            <a:r>
              <a:rPr lang="en-US" b="1" dirty="0"/>
              <a:t> </a:t>
            </a:r>
            <a:r>
              <a:rPr lang="en-US" b="1" dirty="0" err="1"/>
              <a:t>없이는</a:t>
            </a:r>
            <a:r>
              <a:rPr lang="en-US" b="1" dirty="0"/>
              <a:t> </a:t>
            </a:r>
            <a:r>
              <a:rPr lang="en-US" b="1" dirty="0" err="1"/>
              <a:t>성능</a:t>
            </a:r>
            <a:r>
              <a:rPr lang="en-US" b="1" dirty="0"/>
              <a:t> </a:t>
            </a:r>
            <a:r>
              <a:rPr lang="en-US" b="1" dirty="0" err="1"/>
              <a:t>지속성이</a:t>
            </a:r>
            <a:r>
              <a:rPr lang="en-US" b="1" dirty="0"/>
              <a:t> </a:t>
            </a:r>
            <a:r>
              <a:rPr lang="en-US" b="1" dirty="0" err="1"/>
              <a:t>불확실합니다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61820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16294b-7040-47e1-b2e5-64d6dc7364ff}" enabled="1" method="Standard" siteId="{c84d9378-ad95-4040-9258-2ed1ae880de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1869</Words>
  <Application>Microsoft Office PowerPoint</Application>
  <PresentationFormat>화면 슬라이드 쇼(16:9)</PresentationFormat>
  <Paragraphs>290</Paragraphs>
  <Slides>22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Helvetica-Bold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SIN060 전기산화(EO) 시스템 기술검토</dc:title>
  <dc:subject>PptxGenJS Presentation</dc:subject>
  <dc:creator>기술검토팀</dc:creator>
  <cp:lastModifiedBy>Kyujin Lee</cp:lastModifiedBy>
  <cp:revision>2</cp:revision>
  <dcterms:created xsi:type="dcterms:W3CDTF">2026-04-27T04:38:33Z</dcterms:created>
  <dcterms:modified xsi:type="dcterms:W3CDTF">2026-04-28T03:25:21Z</dcterms:modified>
</cp:coreProperties>
</file>