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256" r:id="rId5"/>
    <p:sldId id="270" r:id="rId6"/>
    <p:sldId id="269" r:id="rId7"/>
    <p:sldId id="271" r:id="rId8"/>
    <p:sldId id="272" r:id="rId9"/>
    <p:sldId id="273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91" r:id="rId18"/>
    <p:sldId id="284" r:id="rId19"/>
    <p:sldId id="288" r:id="rId20"/>
    <p:sldId id="289" r:id="rId21"/>
    <p:sldId id="290" r:id="rId22"/>
    <p:sldId id="285" r:id="rId23"/>
    <p:sldId id="286" r:id="rId24"/>
    <p:sldId id="292" r:id="rId25"/>
    <p:sldId id="293" r:id="rId26"/>
    <p:sldId id="294" r:id="rId27"/>
    <p:sldId id="297" r:id="rId28"/>
    <p:sldId id="298" r:id="rId29"/>
    <p:sldId id="296" r:id="rId30"/>
    <p:sldId id="295" r:id="rId31"/>
    <p:sldId id="274" r:id="rId32"/>
    <p:sldId id="299" r:id="rId33"/>
    <p:sldId id="300" r:id="rId42"/>
    <p:sldId id="301" r:id="rId43"/>
    <p:sldId id="302" r:id="rId44"/>
    <p:sldId id="276" r:id="rId34"/>
    <p:sldId id="25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87484" autoAdjust="0"/>
  </p:normalViewPr>
  <p:slideViewPr>
    <p:cSldViewPr snapToGrid="0">
      <p:cViewPr varScale="1">
        <p:scale>
          <a:sx n="80" d="100"/>
          <a:sy n="80" d="100"/>
        </p:scale>
        <p:origin x="12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2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chang Li" userId="ce128964-a821-4ac8-bada-d425e6036f34" providerId="ADAL" clId="{5EDE60FC-69F1-4D50-972B-835C00A2389C}"/>
    <pc:docChg chg="undo redo addSld delSld">
      <pc:chgData name="Longchang Li" userId="ce128964-a821-4ac8-bada-d425e6036f34" providerId="ADAL" clId="{5EDE60FC-69F1-4D50-972B-835C00A2389C}" dt="2026-04-20T09:59:03.856" v="16" actId="2696"/>
      <pc:docMkLst>
        <pc:docMk/>
      </pc:docMkLst>
      <pc:sldChg chg="add del">
        <pc:chgData name="Longchang Li" userId="ce128964-a821-4ac8-bada-d425e6036f34" providerId="ADAL" clId="{5EDE60FC-69F1-4D50-972B-835C00A2389C}" dt="2026-04-20T09:59:03.059" v="15" actId="2696"/>
        <pc:sldMkLst>
          <pc:docMk/>
          <pc:sldMk cId="3918431442" sldId="259"/>
        </pc:sldMkLst>
      </pc:sldChg>
      <pc:sldChg chg="del">
        <pc:chgData name="Longchang Li" userId="ce128964-a821-4ac8-bada-d425e6036f34" providerId="ADAL" clId="{5EDE60FC-69F1-4D50-972B-835C00A2389C}" dt="2026-04-20T09:58:52.030" v="7" actId="2696"/>
        <pc:sldMkLst>
          <pc:docMk/>
          <pc:sldMk cId="190272501" sldId="260"/>
        </pc:sldMkLst>
      </pc:sldChg>
      <pc:sldChg chg="add del">
        <pc:chgData name="Longchang Li" userId="ce128964-a821-4ac8-bada-d425e6036f34" providerId="ADAL" clId="{5EDE60FC-69F1-4D50-972B-835C00A2389C}" dt="2026-04-20T09:59:02.385" v="14" actId="2696"/>
        <pc:sldMkLst>
          <pc:docMk/>
          <pc:sldMk cId="3509060094" sldId="261"/>
        </pc:sldMkLst>
      </pc:sldChg>
      <pc:sldChg chg="del">
        <pc:chgData name="Longchang Li" userId="ce128964-a821-4ac8-bada-d425e6036f34" providerId="ADAL" clId="{5EDE60FC-69F1-4D50-972B-835C00A2389C}" dt="2026-04-20T09:58:51.573" v="6" actId="2696"/>
        <pc:sldMkLst>
          <pc:docMk/>
          <pc:sldMk cId="1634437015" sldId="262"/>
        </pc:sldMkLst>
      </pc:sldChg>
      <pc:sldChg chg="del">
        <pc:chgData name="Longchang Li" userId="ce128964-a821-4ac8-bada-d425e6036f34" providerId="ADAL" clId="{5EDE60FC-69F1-4D50-972B-835C00A2389C}" dt="2026-04-20T09:58:50.851" v="5" actId="2696"/>
        <pc:sldMkLst>
          <pc:docMk/>
          <pc:sldMk cId="1970541797" sldId="263"/>
        </pc:sldMkLst>
      </pc:sldChg>
      <pc:sldChg chg="del">
        <pc:chgData name="Longchang Li" userId="ce128964-a821-4ac8-bada-d425e6036f34" providerId="ADAL" clId="{5EDE60FC-69F1-4D50-972B-835C00A2389C}" dt="2026-04-20T09:58:47.522" v="0" actId="2696"/>
        <pc:sldMkLst>
          <pc:docMk/>
          <pc:sldMk cId="2933739455" sldId="264"/>
        </pc:sldMkLst>
      </pc:sldChg>
      <pc:sldChg chg="del">
        <pc:chgData name="Longchang Li" userId="ce128964-a821-4ac8-bada-d425e6036f34" providerId="ADAL" clId="{5EDE60FC-69F1-4D50-972B-835C00A2389C}" dt="2026-04-20T09:58:50.472" v="4" actId="2696"/>
        <pc:sldMkLst>
          <pc:docMk/>
          <pc:sldMk cId="3825314939" sldId="265"/>
        </pc:sldMkLst>
      </pc:sldChg>
      <pc:sldChg chg="del">
        <pc:chgData name="Longchang Li" userId="ce128964-a821-4ac8-bada-d425e6036f34" providerId="ADAL" clId="{5EDE60FC-69F1-4D50-972B-835C00A2389C}" dt="2026-04-20T09:58:50.037" v="3" actId="2696"/>
        <pc:sldMkLst>
          <pc:docMk/>
          <pc:sldMk cId="1069448745" sldId="266"/>
        </pc:sldMkLst>
      </pc:sldChg>
      <pc:sldChg chg="del">
        <pc:chgData name="Longchang Li" userId="ce128964-a821-4ac8-bada-d425e6036f34" providerId="ADAL" clId="{5EDE60FC-69F1-4D50-972B-835C00A2389C}" dt="2026-04-20T09:58:48.818" v="2" actId="2696"/>
        <pc:sldMkLst>
          <pc:docMk/>
          <pc:sldMk cId="1343585546" sldId="267"/>
        </pc:sldMkLst>
      </pc:sldChg>
      <pc:sldChg chg="del">
        <pc:chgData name="Longchang Li" userId="ce128964-a821-4ac8-bada-d425e6036f34" providerId="ADAL" clId="{5EDE60FC-69F1-4D50-972B-835C00A2389C}" dt="2026-04-20T09:58:48.210" v="1" actId="2696"/>
        <pc:sldMkLst>
          <pc:docMk/>
          <pc:sldMk cId="3850858997" sldId="268"/>
        </pc:sldMkLst>
      </pc:sldChg>
      <pc:sldChg chg="add del">
        <pc:chgData name="Longchang Li" userId="ce128964-a821-4ac8-bada-d425e6036f34" providerId="ADAL" clId="{5EDE60FC-69F1-4D50-972B-835C00A2389C}" dt="2026-04-20T09:59:03.856" v="16" actId="2696"/>
        <pc:sldMkLst>
          <pc:docMk/>
          <pc:sldMk cId="852376752" sldId="275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Conductivity, Hardness, Alkalinity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DATA!$C$115:$C$146</c:f>
            </c:numRef>
          </c:val>
          <c:extLst>
            <c:ext xmlns:c16="http://schemas.microsoft.com/office/drawing/2014/chart" uri="{C3380CC4-5D6E-409C-BE32-E72D297353CC}">
              <c16:uniqueId val="{00000000-9CF2-4741-B13D-857199B61BA5}"/>
            </c:ext>
          </c:extLst>
        </c:ser>
        <c:ser>
          <c:idx val="2"/>
          <c:order val="2"/>
          <c:tx>
            <c:v>Hardness (ppm)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DATA!$D$115:$D$146</c:f>
              <c:numCache>
                <c:formatCode>General</c:formatCode>
                <c:ptCount val="32"/>
                <c:pt idx="0">
                  <c:v>191</c:v>
                </c:pt>
                <c:pt idx="1">
                  <c:v>200</c:v>
                </c:pt>
                <c:pt idx="2">
                  <c:v>140</c:v>
                </c:pt>
                <c:pt idx="3">
                  <c:v>121</c:v>
                </c:pt>
                <c:pt idx="4">
                  <c:v>113</c:v>
                </c:pt>
                <c:pt idx="5">
                  <c:v>121</c:v>
                </c:pt>
                <c:pt idx="6">
                  <c:v>110</c:v>
                </c:pt>
                <c:pt idx="7">
                  <c:v>220</c:v>
                </c:pt>
                <c:pt idx="8">
                  <c:v>250</c:v>
                </c:pt>
                <c:pt idx="9">
                  <c:v>214</c:v>
                </c:pt>
                <c:pt idx="10">
                  <c:v>228</c:v>
                </c:pt>
                <c:pt idx="11">
                  <c:v>208</c:v>
                </c:pt>
                <c:pt idx="12">
                  <c:v>220</c:v>
                </c:pt>
                <c:pt idx="13">
                  <c:v>260</c:v>
                </c:pt>
                <c:pt idx="14">
                  <c:v>240</c:v>
                </c:pt>
                <c:pt idx="15">
                  <c:v>280</c:v>
                </c:pt>
                <c:pt idx="16">
                  <c:v>260</c:v>
                </c:pt>
                <c:pt idx="17">
                  <c:v>250</c:v>
                </c:pt>
                <c:pt idx="18">
                  <c:v>260</c:v>
                </c:pt>
                <c:pt idx="19">
                  <c:v>240</c:v>
                </c:pt>
                <c:pt idx="20">
                  <c:v>180</c:v>
                </c:pt>
                <c:pt idx="21">
                  <c:v>240</c:v>
                </c:pt>
                <c:pt idx="22">
                  <c:v>220</c:v>
                </c:pt>
                <c:pt idx="23">
                  <c:v>250</c:v>
                </c:pt>
                <c:pt idx="24">
                  <c:v>260</c:v>
                </c:pt>
                <c:pt idx="25">
                  <c:v>290</c:v>
                </c:pt>
                <c:pt idx="26">
                  <c:v>370</c:v>
                </c:pt>
                <c:pt idx="27">
                  <c:v>220</c:v>
                </c:pt>
                <c:pt idx="28">
                  <c:v>240</c:v>
                </c:pt>
                <c:pt idx="29">
                  <c:v>220</c:v>
                </c:pt>
                <c:pt idx="30">
                  <c:v>170</c:v>
                </c:pt>
                <c:pt idx="31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F2-4741-B13D-857199B61BA5}"/>
            </c:ext>
          </c:extLst>
        </c:ser>
        <c:ser>
          <c:idx val="0"/>
          <c:order val="0"/>
          <c:tx>
            <c:v>Alkalinity (ppm)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DATA!$B$115:$B$146</c:f>
              <c:numCache>
                <c:formatCode>General</c:formatCode>
                <c:ptCount val="32"/>
                <c:pt idx="0">
                  <c:v>350</c:v>
                </c:pt>
                <c:pt idx="1">
                  <c:v>330</c:v>
                </c:pt>
                <c:pt idx="2">
                  <c:v>330</c:v>
                </c:pt>
                <c:pt idx="3">
                  <c:v>360</c:v>
                </c:pt>
                <c:pt idx="4">
                  <c:v>330</c:v>
                </c:pt>
                <c:pt idx="5">
                  <c:v>330</c:v>
                </c:pt>
                <c:pt idx="6">
                  <c:v>320</c:v>
                </c:pt>
                <c:pt idx="7">
                  <c:v>320</c:v>
                </c:pt>
                <c:pt idx="8">
                  <c:v>350</c:v>
                </c:pt>
                <c:pt idx="9">
                  <c:v>340</c:v>
                </c:pt>
                <c:pt idx="10">
                  <c:v>360</c:v>
                </c:pt>
                <c:pt idx="11">
                  <c:v>360</c:v>
                </c:pt>
                <c:pt idx="12">
                  <c:v>350</c:v>
                </c:pt>
                <c:pt idx="13">
                  <c:v>360</c:v>
                </c:pt>
                <c:pt idx="14">
                  <c:v>380</c:v>
                </c:pt>
                <c:pt idx="15">
                  <c:v>420</c:v>
                </c:pt>
                <c:pt idx="16">
                  <c:v>390</c:v>
                </c:pt>
                <c:pt idx="17">
                  <c:v>360</c:v>
                </c:pt>
                <c:pt idx="18">
                  <c:v>380</c:v>
                </c:pt>
                <c:pt idx="19">
                  <c:v>350</c:v>
                </c:pt>
                <c:pt idx="20">
                  <c:v>320</c:v>
                </c:pt>
                <c:pt idx="21">
                  <c:v>320</c:v>
                </c:pt>
                <c:pt idx="22">
                  <c:v>310</c:v>
                </c:pt>
                <c:pt idx="23">
                  <c:v>290</c:v>
                </c:pt>
                <c:pt idx="24">
                  <c:v>310</c:v>
                </c:pt>
                <c:pt idx="25">
                  <c:v>410</c:v>
                </c:pt>
                <c:pt idx="26">
                  <c:v>290</c:v>
                </c:pt>
                <c:pt idx="27">
                  <c:v>340</c:v>
                </c:pt>
                <c:pt idx="28">
                  <c:v>290</c:v>
                </c:pt>
                <c:pt idx="29">
                  <c:v>330</c:v>
                </c:pt>
                <c:pt idx="30">
                  <c:v>310</c:v>
                </c:pt>
                <c:pt idx="31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F2-4741-B13D-857199B61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1671440"/>
        <c:axId val="401680080"/>
      </c:barChart>
      <c:lineChart>
        <c:grouping val="standard"/>
        <c:varyColors val="0"/>
        <c:ser>
          <c:idx val="3"/>
          <c:order val="3"/>
          <c:tx>
            <c:v>Conductivity (uS/cm)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DATA!$E$115:$E$146</c:f>
              <c:numCache>
                <c:formatCode>General</c:formatCode>
                <c:ptCount val="32"/>
                <c:pt idx="0">
                  <c:v>1350</c:v>
                </c:pt>
                <c:pt idx="1">
                  <c:v>1330</c:v>
                </c:pt>
                <c:pt idx="2">
                  <c:v>1300</c:v>
                </c:pt>
                <c:pt idx="3">
                  <c:v>1300</c:v>
                </c:pt>
                <c:pt idx="4">
                  <c:v>1300</c:v>
                </c:pt>
                <c:pt idx="5">
                  <c:v>1300</c:v>
                </c:pt>
                <c:pt idx="6">
                  <c:v>1300</c:v>
                </c:pt>
                <c:pt idx="7">
                  <c:v>1300</c:v>
                </c:pt>
                <c:pt idx="8">
                  <c:v>1300</c:v>
                </c:pt>
                <c:pt idx="9">
                  <c:v>1300</c:v>
                </c:pt>
                <c:pt idx="10">
                  <c:v>1300</c:v>
                </c:pt>
                <c:pt idx="11">
                  <c:v>1500</c:v>
                </c:pt>
                <c:pt idx="12">
                  <c:v>1500</c:v>
                </c:pt>
                <c:pt idx="13">
                  <c:v>1500</c:v>
                </c:pt>
                <c:pt idx="14">
                  <c:v>1530</c:v>
                </c:pt>
                <c:pt idx="15">
                  <c:v>1500</c:v>
                </c:pt>
                <c:pt idx="16">
                  <c:v>1500</c:v>
                </c:pt>
                <c:pt idx="17">
                  <c:v>1500</c:v>
                </c:pt>
                <c:pt idx="18">
                  <c:v>1500</c:v>
                </c:pt>
                <c:pt idx="19">
                  <c:v>1500</c:v>
                </c:pt>
                <c:pt idx="20">
                  <c:v>1500</c:v>
                </c:pt>
                <c:pt idx="21">
                  <c:v>1460</c:v>
                </c:pt>
                <c:pt idx="22">
                  <c:v>1500</c:v>
                </c:pt>
                <c:pt idx="23">
                  <c:v>1520</c:v>
                </c:pt>
                <c:pt idx="24">
                  <c:v>1530</c:v>
                </c:pt>
                <c:pt idx="25">
                  <c:v>1510</c:v>
                </c:pt>
                <c:pt idx="26">
                  <c:v>1510</c:v>
                </c:pt>
                <c:pt idx="27">
                  <c:v>1500</c:v>
                </c:pt>
                <c:pt idx="28">
                  <c:v>1500</c:v>
                </c:pt>
                <c:pt idx="29">
                  <c:v>1500</c:v>
                </c:pt>
                <c:pt idx="30">
                  <c:v>1500</c:v>
                </c:pt>
                <c:pt idx="31">
                  <c:v>1480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CF2-4741-B13D-857199B61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52767"/>
        <c:axId val="19753247"/>
      </c:lineChart>
      <c:catAx>
        <c:axId val="1975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3247"/>
        <c:crosses val="autoZero"/>
        <c:auto val="1"/>
        <c:lblAlgn val="ctr"/>
        <c:lblOffset val="100"/>
        <c:noMultiLvlLbl val="0"/>
      </c:catAx>
      <c:valAx>
        <c:axId val="19753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2767"/>
        <c:crosses val="autoZero"/>
        <c:crossBetween val="between"/>
      </c:valAx>
      <c:valAx>
        <c:axId val="40168008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1671440"/>
        <c:crosses val="max"/>
        <c:crossBetween val="between"/>
      </c:valAx>
      <c:catAx>
        <c:axId val="401671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016800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WUE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05423120"/>
        <c:axId val="160542456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Blowdown!$B$1</c15:sqref>
                        </c15:formulaRef>
                      </c:ext>
                    </c:extLst>
                    <c:strCache>
                      <c:ptCount val="1"/>
                      <c:pt idx="0">
                        <c:v>Blowdown (m3)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Blowdown!$A$2:$A$31</c15:sqref>
                        </c15:formulaRef>
                      </c:ext>
                    </c:extLst>
                    <c:numCache>
                      <c:formatCode>m/d/yyyy</c:formatCode>
                      <c:ptCount val="30"/>
                      <c:pt idx="0">
                        <c:v>44927</c:v>
                      </c:pt>
                      <c:pt idx="1">
                        <c:v>44958</c:v>
                      </c:pt>
                      <c:pt idx="2">
                        <c:v>44986</c:v>
                      </c:pt>
                      <c:pt idx="3">
                        <c:v>45017</c:v>
                      </c:pt>
                      <c:pt idx="4">
                        <c:v>45047</c:v>
                      </c:pt>
                      <c:pt idx="5">
                        <c:v>45078</c:v>
                      </c:pt>
                      <c:pt idx="6">
                        <c:v>45108</c:v>
                      </c:pt>
                      <c:pt idx="7">
                        <c:v>45139</c:v>
                      </c:pt>
                      <c:pt idx="8">
                        <c:v>45170</c:v>
                      </c:pt>
                      <c:pt idx="9">
                        <c:v>45200</c:v>
                      </c:pt>
                      <c:pt idx="10">
                        <c:v>45231</c:v>
                      </c:pt>
                      <c:pt idx="11">
                        <c:v>45261</c:v>
                      </c:pt>
                      <c:pt idx="12">
                        <c:v>45292</c:v>
                      </c:pt>
                      <c:pt idx="13">
                        <c:v>45323</c:v>
                      </c:pt>
                      <c:pt idx="14">
                        <c:v>45352</c:v>
                      </c:pt>
                      <c:pt idx="15">
                        <c:v>45383</c:v>
                      </c:pt>
                      <c:pt idx="16">
                        <c:v>45413</c:v>
                      </c:pt>
                      <c:pt idx="17">
                        <c:v>45444</c:v>
                      </c:pt>
                      <c:pt idx="18">
                        <c:v>45474</c:v>
                      </c:pt>
                      <c:pt idx="19">
                        <c:v>45505</c:v>
                      </c:pt>
                      <c:pt idx="20">
                        <c:v>45536</c:v>
                      </c:pt>
                      <c:pt idx="21">
                        <c:v>45566</c:v>
                      </c:pt>
                      <c:pt idx="22">
                        <c:v>45597</c:v>
                      </c:pt>
                      <c:pt idx="23">
                        <c:v>45627</c:v>
                      </c:pt>
                      <c:pt idx="24">
                        <c:v>45658</c:v>
                      </c:pt>
                      <c:pt idx="25">
                        <c:v>45689</c:v>
                      </c:pt>
                      <c:pt idx="26">
                        <c:v>45717</c:v>
                      </c:pt>
                      <c:pt idx="27">
                        <c:v>45748</c:v>
                      </c:pt>
                      <c:pt idx="28">
                        <c:v>45778</c:v>
                      </c:pt>
                      <c:pt idx="29">
                        <c:v>45809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Blowdown!$B$2:$B$31</c15:sqref>
                        </c15:formulaRef>
                      </c:ext>
                    </c:extLst>
                    <c:numCache>
                      <c:formatCode>0</c:formatCode>
                      <c:ptCount val="30"/>
                      <c:pt idx="0">
                        <c:v>1041.2998046875</c:v>
                      </c:pt>
                      <c:pt idx="1">
                        <c:v>989.8994140625</c:v>
                      </c:pt>
                      <c:pt idx="2">
                        <c:v>1081.298828125</c:v>
                      </c:pt>
                      <c:pt idx="3">
                        <c:v>1034.6015625</c:v>
                      </c:pt>
                      <c:pt idx="4">
                        <c:v>1213.298828125</c:v>
                      </c:pt>
                      <c:pt idx="5">
                        <c:v>1378.80078125</c:v>
                      </c:pt>
                      <c:pt idx="6">
                        <c:v>1352.400390625</c:v>
                      </c:pt>
                      <c:pt idx="7">
                        <c:v>1257.798828125</c:v>
                      </c:pt>
                      <c:pt idx="8">
                        <c:v>1262.400390625</c:v>
                      </c:pt>
                      <c:pt idx="9">
                        <c:v>1418</c:v>
                      </c:pt>
                      <c:pt idx="10">
                        <c:v>639.5</c:v>
                      </c:pt>
                      <c:pt idx="11">
                        <c:v>1055.900390625</c:v>
                      </c:pt>
                      <c:pt idx="12">
                        <c:v>1342.099999999997</c:v>
                      </c:pt>
                      <c:pt idx="13">
                        <c:v>1059.2999999999988</c:v>
                      </c:pt>
                      <c:pt idx="14">
                        <c:v>1097.6400000000003</c:v>
                      </c:pt>
                      <c:pt idx="15">
                        <c:v>1173.4599999999982</c:v>
                      </c:pt>
                      <c:pt idx="16">
                        <c:v>1551.0000000000027</c:v>
                      </c:pt>
                      <c:pt idx="17">
                        <c:v>1194</c:v>
                      </c:pt>
                      <c:pt idx="18">
                        <c:v>1313.7999999999956</c:v>
                      </c:pt>
                      <c:pt idx="19">
                        <c:v>1145.9000000000015</c:v>
                      </c:pt>
                      <c:pt idx="20">
                        <c:v>1264.4999999999964</c:v>
                      </c:pt>
                      <c:pt idx="21">
                        <c:v>1171.6000000000131</c:v>
                      </c:pt>
                      <c:pt idx="22">
                        <c:v>1207.5999999999949</c:v>
                      </c:pt>
                      <c:pt idx="23">
                        <c:v>1034.5</c:v>
                      </c:pt>
                      <c:pt idx="24" formatCode="General">
                        <c:v>1117.4999999999964</c:v>
                      </c:pt>
                      <c:pt idx="25" formatCode="General">
                        <c:v>1015.1000000000058</c:v>
                      </c:pt>
                      <c:pt idx="26" formatCode="General">
                        <c:v>1130.5000000000036</c:v>
                      </c:pt>
                      <c:pt idx="27" formatCode="General">
                        <c:v>1037.2999999999884</c:v>
                      </c:pt>
                      <c:pt idx="28" formatCode="General">
                        <c:v>1160.260000000002</c:v>
                      </c:pt>
                      <c:pt idx="29" formatCode="General">
                        <c:v>2029.8400000000038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93ED-44DE-9C32-82D9433AEA6C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1"/>
          <c:order val="1"/>
          <c:tx>
            <c:strRef>
              <c:f>Blowdown!$C$1</c:f>
              <c:strCache>
                <c:ptCount val="1"/>
                <c:pt idx="0">
                  <c:v>WUE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Blowdown!$A$2:$A$31</c:f>
              <c:numCache>
                <c:formatCode>m/d/yyyy</c:formatCode>
                <c:ptCount val="30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</c:numCache>
            </c:numRef>
          </c:cat>
          <c:val>
            <c:numRef>
              <c:f>Blowdown!$C$2:$C$31</c:f>
              <c:numCache>
                <c:formatCode>0.00</c:formatCode>
                <c:ptCount val="30"/>
                <c:pt idx="0">
                  <c:v>1.8308813355837912</c:v>
                </c:pt>
                <c:pt idx="1">
                  <c:v>2.0868184906854412</c:v>
                </c:pt>
                <c:pt idx="2">
                  <c:v>1.5472716049382715</c:v>
                </c:pt>
                <c:pt idx="3">
                  <c:v>1.7692341686799622</c:v>
                </c:pt>
                <c:pt idx="4">
                  <c:v>1.999586655681248</c:v>
                </c:pt>
                <c:pt idx="5">
                  <c:v>2.0302340211373928</c:v>
                </c:pt>
                <c:pt idx="6">
                  <c:v>2.1427530141406796</c:v>
                </c:pt>
                <c:pt idx="7">
                  <c:v>1.472205344916707</c:v>
                </c:pt>
                <c:pt idx="8">
                  <c:v>1.9833583134470338</c:v>
                </c:pt>
                <c:pt idx="9">
                  <c:v>1.871057464744015</c:v>
                </c:pt>
                <c:pt idx="10">
                  <c:v>1.7859060042085537</c:v>
                </c:pt>
                <c:pt idx="11">
                  <c:v>2.0332214157661759</c:v>
                </c:pt>
                <c:pt idx="12">
                  <c:v>1.887302916239614</c:v>
                </c:pt>
                <c:pt idx="13">
                  <c:v>1.7361296296296296</c:v>
                </c:pt>
                <c:pt idx="14">
                  <c:v>2.1201910758333025</c:v>
                </c:pt>
                <c:pt idx="15">
                  <c:v>1.7841187254790221</c:v>
                </c:pt>
                <c:pt idx="16">
                  <c:v>1.885658747300216</c:v>
                </c:pt>
                <c:pt idx="17">
                  <c:v>1.8699834622544469</c:v>
                </c:pt>
                <c:pt idx="18">
                  <c:v>1.8106712145814292</c:v>
                </c:pt>
                <c:pt idx="19">
                  <c:v>1.581095092005377</c:v>
                </c:pt>
                <c:pt idx="20">
                  <c:v>1.2353323928013691</c:v>
                </c:pt>
                <c:pt idx="21">
                  <c:v>1.2438199405702726</c:v>
                </c:pt>
                <c:pt idx="22">
                  <c:v>1.4206284239027769</c:v>
                </c:pt>
                <c:pt idx="23">
                  <c:v>1.3738446567429783</c:v>
                </c:pt>
                <c:pt idx="24">
                  <c:v>1.3955157577048949</c:v>
                </c:pt>
                <c:pt idx="25">
                  <c:v>1.4814605104600214</c:v>
                </c:pt>
                <c:pt idx="26">
                  <c:v>1.2097666268482341</c:v>
                </c:pt>
                <c:pt idx="27">
                  <c:v>1.3946260547572213</c:v>
                </c:pt>
                <c:pt idx="28">
                  <c:v>1.3738127908232307</c:v>
                </c:pt>
                <c:pt idx="29">
                  <c:v>1.4137720224040002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ED-44DE-9C32-82D9433AEA6C}"/>
            </c:ext>
          </c:extLst>
        </c:ser>
        <c:ser>
          <c:idx val="2"/>
          <c:order val="2"/>
          <c:tx>
            <c:strRef>
              <c:f>Blowdown!$D$1</c:f>
              <c:strCache>
                <c:ptCount val="1"/>
                <c:pt idx="0">
                  <c:v>WUE 2023 (Avg)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Blowdown!$A$2:$A$31</c:f>
              <c:numCache>
                <c:formatCode>m/d/yyyy</c:formatCode>
                <c:ptCount val="30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</c:numCache>
            </c:numRef>
          </c:cat>
          <c:val>
            <c:numRef>
              <c:f>Blowdown!$D$2:$D$31</c:f>
              <c:numCache>
                <c:formatCode>0.00</c:formatCode>
                <c:ptCount val="30"/>
                <c:pt idx="0">
                  <c:v>1.8793773194941057</c:v>
                </c:pt>
                <c:pt idx="1">
                  <c:v>1.8793773194941057</c:v>
                </c:pt>
                <c:pt idx="2">
                  <c:v>1.8793773194941057</c:v>
                </c:pt>
                <c:pt idx="3">
                  <c:v>1.8793773194941057</c:v>
                </c:pt>
                <c:pt idx="4">
                  <c:v>1.8793773194941057</c:v>
                </c:pt>
                <c:pt idx="5">
                  <c:v>1.8793773194941057</c:v>
                </c:pt>
                <c:pt idx="6">
                  <c:v>1.8793773194941057</c:v>
                </c:pt>
                <c:pt idx="7">
                  <c:v>1.8793773194941057</c:v>
                </c:pt>
                <c:pt idx="8">
                  <c:v>1.8793773194941057</c:v>
                </c:pt>
                <c:pt idx="9">
                  <c:v>1.8793773194941057</c:v>
                </c:pt>
                <c:pt idx="10">
                  <c:v>1.8793773194941057</c:v>
                </c:pt>
                <c:pt idx="11">
                  <c:v>1.8793773194941057</c:v>
                </c:pt>
                <c:pt idx="12">
                  <c:v>1.8793773194941057</c:v>
                </c:pt>
                <c:pt idx="13">
                  <c:v>1.8793773194941057</c:v>
                </c:pt>
                <c:pt idx="14">
                  <c:v>1.8793773194941057</c:v>
                </c:pt>
                <c:pt idx="15">
                  <c:v>1.8793773194941057</c:v>
                </c:pt>
                <c:pt idx="16">
                  <c:v>1.8793773194941057</c:v>
                </c:pt>
                <c:pt idx="17">
                  <c:v>1.8793773194941057</c:v>
                </c:pt>
                <c:pt idx="18">
                  <c:v>1.8793773194941057</c:v>
                </c:pt>
                <c:pt idx="19">
                  <c:v>1.8793773194941057</c:v>
                </c:pt>
                <c:pt idx="20">
                  <c:v>1.8793773194941057</c:v>
                </c:pt>
                <c:pt idx="21">
                  <c:v>1.8793773194941057</c:v>
                </c:pt>
                <c:pt idx="22">
                  <c:v>1.8793773194941057</c:v>
                </c:pt>
                <c:pt idx="23">
                  <c:v>1.8793773194941057</c:v>
                </c:pt>
                <c:pt idx="24">
                  <c:v>1.8793773194941057</c:v>
                </c:pt>
                <c:pt idx="25">
                  <c:v>1.8793773194941057</c:v>
                </c:pt>
                <c:pt idx="26">
                  <c:v>1.8793773194941057</c:v>
                </c:pt>
                <c:pt idx="27">
                  <c:v>1.8793773194941057</c:v>
                </c:pt>
                <c:pt idx="28">
                  <c:v>1.8793773194941057</c:v>
                </c:pt>
                <c:pt idx="29">
                  <c:v>1.8793773194941057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ED-44DE-9C32-82D9433AE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5423120"/>
        <c:axId val="1605424560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Blowdown!$E$1</c15:sqref>
                        </c15:formulaRef>
                      </c:ext>
                    </c:extLst>
                    <c:strCache>
                      <c:ptCount val="1"/>
                      <c:pt idx="0">
                        <c:v>PUB Benchmark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Blowdown!$A$2:$A$31</c15:sqref>
                        </c15:formulaRef>
                      </c:ext>
                    </c:extLst>
                    <c:numCache>
                      <c:formatCode>m/d/yyyy</c:formatCode>
                      <c:ptCount val="30"/>
                      <c:pt idx="0">
                        <c:v>44927</c:v>
                      </c:pt>
                      <c:pt idx="1">
                        <c:v>44958</c:v>
                      </c:pt>
                      <c:pt idx="2">
                        <c:v>44986</c:v>
                      </c:pt>
                      <c:pt idx="3">
                        <c:v>45017</c:v>
                      </c:pt>
                      <c:pt idx="4">
                        <c:v>45047</c:v>
                      </c:pt>
                      <c:pt idx="5">
                        <c:v>45078</c:v>
                      </c:pt>
                      <c:pt idx="6">
                        <c:v>45108</c:v>
                      </c:pt>
                      <c:pt idx="7">
                        <c:v>45139</c:v>
                      </c:pt>
                      <c:pt idx="8">
                        <c:v>45170</c:v>
                      </c:pt>
                      <c:pt idx="9">
                        <c:v>45200</c:v>
                      </c:pt>
                      <c:pt idx="10">
                        <c:v>45231</c:v>
                      </c:pt>
                      <c:pt idx="11">
                        <c:v>45261</c:v>
                      </c:pt>
                      <c:pt idx="12">
                        <c:v>45292</c:v>
                      </c:pt>
                      <c:pt idx="13">
                        <c:v>45323</c:v>
                      </c:pt>
                      <c:pt idx="14">
                        <c:v>45352</c:v>
                      </c:pt>
                      <c:pt idx="15">
                        <c:v>45383</c:v>
                      </c:pt>
                      <c:pt idx="16">
                        <c:v>45413</c:v>
                      </c:pt>
                      <c:pt idx="17">
                        <c:v>45444</c:v>
                      </c:pt>
                      <c:pt idx="18">
                        <c:v>45474</c:v>
                      </c:pt>
                      <c:pt idx="19">
                        <c:v>45505</c:v>
                      </c:pt>
                      <c:pt idx="20">
                        <c:v>45536</c:v>
                      </c:pt>
                      <c:pt idx="21">
                        <c:v>45566</c:v>
                      </c:pt>
                      <c:pt idx="22">
                        <c:v>45597</c:v>
                      </c:pt>
                      <c:pt idx="23">
                        <c:v>45627</c:v>
                      </c:pt>
                      <c:pt idx="24">
                        <c:v>45658</c:v>
                      </c:pt>
                      <c:pt idx="25">
                        <c:v>45689</c:v>
                      </c:pt>
                      <c:pt idx="26">
                        <c:v>45717</c:v>
                      </c:pt>
                      <c:pt idx="27">
                        <c:v>45748</c:v>
                      </c:pt>
                      <c:pt idx="28">
                        <c:v>45778</c:v>
                      </c:pt>
                      <c:pt idx="29">
                        <c:v>45809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Blowdown!$E$2:$E$31</c15:sqref>
                        </c15:formulaRef>
                      </c:ext>
                    </c:extLst>
                    <c:numCache>
                      <c:formatCode>General</c:formatCode>
                      <c:ptCount val="30"/>
                      <c:pt idx="0">
                        <c:v>2.5</c:v>
                      </c:pt>
                      <c:pt idx="1">
                        <c:v>2.5</c:v>
                      </c:pt>
                      <c:pt idx="2">
                        <c:v>2.5</c:v>
                      </c:pt>
                      <c:pt idx="3">
                        <c:v>2.5</c:v>
                      </c:pt>
                      <c:pt idx="4">
                        <c:v>2.5</c:v>
                      </c:pt>
                      <c:pt idx="5">
                        <c:v>2.5</c:v>
                      </c:pt>
                      <c:pt idx="6">
                        <c:v>2.5</c:v>
                      </c:pt>
                      <c:pt idx="7">
                        <c:v>2.5</c:v>
                      </c:pt>
                      <c:pt idx="8">
                        <c:v>2.5</c:v>
                      </c:pt>
                      <c:pt idx="9">
                        <c:v>2.5</c:v>
                      </c:pt>
                      <c:pt idx="10">
                        <c:v>2.5</c:v>
                      </c:pt>
                      <c:pt idx="11">
                        <c:v>2.5</c:v>
                      </c:pt>
                      <c:pt idx="12">
                        <c:v>2.5</c:v>
                      </c:pt>
                      <c:pt idx="13">
                        <c:v>2.5</c:v>
                      </c:pt>
                      <c:pt idx="14">
                        <c:v>2.5</c:v>
                      </c:pt>
                      <c:pt idx="15">
                        <c:v>2.5</c:v>
                      </c:pt>
                      <c:pt idx="16">
                        <c:v>2.5</c:v>
                      </c:pt>
                      <c:pt idx="17">
                        <c:v>2.5</c:v>
                      </c:pt>
                      <c:pt idx="18">
                        <c:v>2.5</c:v>
                      </c:pt>
                      <c:pt idx="19">
                        <c:v>2.5</c:v>
                      </c:pt>
                      <c:pt idx="20">
                        <c:v>2.5</c:v>
                      </c:pt>
                      <c:pt idx="21">
                        <c:v>2.5</c:v>
                      </c:pt>
                      <c:pt idx="22">
                        <c:v>2.5</c:v>
                      </c:pt>
                      <c:pt idx="23">
                        <c:v>2.5</c:v>
                      </c:pt>
                      <c:pt idx="24">
                        <c:v>2.5</c:v>
                      </c:pt>
                      <c:pt idx="25">
                        <c:v>2.5</c:v>
                      </c:pt>
                      <c:pt idx="26">
                        <c:v>2.5</c:v>
                      </c:pt>
                      <c:pt idx="27">
                        <c:v>2.5</c:v>
                      </c:pt>
                      <c:pt idx="28">
                        <c:v>2.5</c:v>
                      </c:pt>
                      <c:pt idx="29">
                        <c:v>2.5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93ED-44DE-9C32-82D9433AEA6C}"/>
                  </c:ext>
                </c:extLst>
              </c15:ser>
            </c15:filteredLineSeries>
          </c:ext>
        </c:extLst>
      </c:lineChart>
      <c:dateAx>
        <c:axId val="16054231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5424560"/>
        <c:crosses val="autoZero"/>
        <c:auto val="1"/>
        <c:lblOffset val="100"/>
        <c:baseTimeUnit val="months"/>
      </c:dateAx>
      <c:valAx>
        <c:axId val="160542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542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0FCE9-80DD-4EE0-BD76-49390FFA5BDF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69AD2-45E1-41E1-A684-8E4C06328F8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3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 xml:space="preserve">LC, </a:t>
            </a:r>
            <a:r>
              <a:rPr lang="en-US" altLang="zh-CN" dirty="0"/>
              <a:t>April 2026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5099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8591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2865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5551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9233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4018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3273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Inconsistent labeling between conductivity and hardness in the same dataset introduces uncertainty in data interpretation and limits confidence in the reported performance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0826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0644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620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impact on system performance depends on scale, water chemistry, and system design.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9614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204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WUE is a system-level KPI, and without component-level data, attribution to any single technology is not reliable.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0586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assessment of impact on PUE is provided, despite EO being an electrically driven system.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5206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3124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Engineering Consideration</a:t>
            </a:r>
          </a:p>
          <a:p>
            <a:r>
              <a:rPr lang="en-US" dirty="0"/>
              <a:t xml:space="preserve">Effective microbial control requires: </a:t>
            </a:r>
          </a:p>
          <a:p>
            <a:pPr lvl="1"/>
            <a:r>
              <a:rPr lang="en-US" dirty="0"/>
              <a:t xml:space="preserve">Sufficient oxidant concentration </a:t>
            </a:r>
          </a:p>
          <a:p>
            <a:pPr lvl="1"/>
            <a:r>
              <a:rPr lang="en-US" dirty="0"/>
              <a:t xml:space="preserve">Full system exposure (not limited to side-stream) </a:t>
            </a:r>
          </a:p>
          <a:p>
            <a:pPr lvl="1"/>
            <a:r>
              <a:rPr lang="en-US" dirty="0"/>
              <a:t xml:space="preserve">Stable residual control in bulk water </a:t>
            </a:r>
          </a:p>
          <a:p>
            <a:r>
              <a:rPr lang="en-US" dirty="0"/>
              <a:t>👉 These conditions are not demonstrated in the EO system data.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6046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Overall Assessment</a:t>
            </a:r>
          </a:p>
          <a:p>
            <a:r>
              <a:rPr lang="en-US" dirty="0"/>
              <a:t>The available data is insufficient to establish a clear cause-and-effect relationship between EO operation and system performance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934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9AD2-45E1-41E1-A684-8E4C06328F8C}" type="slidenum">
              <a:rPr lang="en-SG" smtClean="0"/>
              <a:t>27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71971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41AA-19DA-44B8-BEA6-480DE2DD7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3A9F7-6C34-485C-9BB5-6166E33ED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2C7FC-2CE5-4F18-BCB0-BDEA112B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A183-587C-4D30-BBBB-E8CD6BFC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5720-2728-4BB3-B229-43B42483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1229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C5AC-C326-455C-80A7-0C5A0B4B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A366-9512-41BF-926E-D81CA56BA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982AC-301F-4B96-A9FB-3C43C8CE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B6884-9EC2-43D9-A653-7155AE35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99A6-05B2-42F9-A680-07CF297F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255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720D-0875-40BD-9222-C09AFD9BF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A4EFD-F186-4BDE-957D-966E5F6E1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6C7C4-91D9-49E8-8884-8F3F88BF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F7E80-A0CF-40A5-B74F-57ECB243C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9F0EB-0855-4991-B1CE-2D507936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585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9659-E1BE-40C3-9D2E-48523A53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E72DE-6E29-4021-865D-9C4360063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EF3EB-D6A7-42E5-96A4-86CD7721C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60B14-26B0-4AC9-AF4E-E1F026DF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D31CD-2958-4EF7-A450-C6EB7881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89B28-C44D-4AB7-A293-E24A52AED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545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FA70-97B6-48DB-8DE1-07E069572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FF563-554B-4629-AD3C-F5DF2F05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A7A19-019D-4944-A90D-CD2098AE3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E5892-BA5F-41F8-92E2-92EB28A6F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A1C361-138E-41F2-B885-F154981C8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24360-CBA1-46FD-8964-2FF620B6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FDDC2-6AB1-478B-8904-DF5426AE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C8440-BA55-4AC3-BD0D-68096647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183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9905-4A5A-41D6-B09F-AE80500E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32FAA-DBC2-4DEA-A7C0-623AC88A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D57F0-8F8D-4BD1-92A0-48F090D9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971B5-03CA-4E4E-ABA9-BD27E3B2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208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9B296-9602-4F9C-8BC4-985D0A30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4D82E-0A60-4680-BD22-E5B4D04C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79FC3-586F-4F66-8364-C4EB47DA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760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FBAC-8616-4A58-B0D2-8EE72389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43DC6-D1D7-4941-BAA4-10F5AC5DC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C49AC-CB52-42D1-AFCF-DE2624BAF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323FF-E369-4A84-835E-153C21C6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283C0-0ED6-4B2F-9236-5110B8C05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04AE0-7663-4339-A068-E90B7B08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733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5FFE-5822-4C24-BFB2-AA9EEC48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F10D4-F7B2-4225-83BC-0A4834063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53DB8-B942-4FEE-BADC-F4F18438D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E5D6E-693A-46E0-926F-2CE757B1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4E298-8108-4961-94C1-D8D9CECFC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60884-DDCE-45CA-8862-9693D3BE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625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E8A8-48DD-4D27-A465-5CC306047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DB074-EC06-4EA7-9808-BCDE9DB0E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D33A-8DE3-4DC2-880A-AE857F4A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4E464-D53A-480F-BF12-1E63BB56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2FFB3-C315-469B-9DAD-2A1C8C6A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045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7BE95-D227-4252-93FB-8E0AC577D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F9712-8ADE-4AF2-A73C-83E500996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8F235-EC55-4C35-A15B-65EB5596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96045-BAA6-4216-8B6A-2AD9B038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9C067-4641-4410-AF5C-67681FD8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30365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4A5649-446C-442A-9618-050E3D4F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282F6-9B8A-4D51-8913-235460FE2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2E1A5-B166-402A-9B1C-311869AA3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688C4-0153-46B1-A8BD-263AE9A0DFDD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8905-085B-4D22-BDA8-A742C5923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FA2F-1B54-4E53-B26A-352625521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4229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emf"/><Relationship Id="rId3" Type="http://schemas.openxmlformats.org/officeDocument/2006/relationships/image" Target="../media/image9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ydroleap.com/hl-eo-ct/" TargetMode="External"/><Relationship Id="rId3" Type="http://schemas.openxmlformats.org/officeDocument/2006/relationships/hyperlink" Target="https://www.aboutamazon.sg/news/aws/4-ways-aws-is-innovating-on-water-sustainability-in-singapore" TargetMode="External"/><Relationship Id="rId4" Type="http://schemas.openxmlformats.org/officeDocument/2006/relationships/hyperlink" Target="https://www.imda.gov.sg/-/media/imda/files/how-we-can-help/green-dc-roadmap/green-dc-roadmap.pdf?utm_source=chatgpt.com" TargetMode="External"/><Relationship Id="rId5" Type="http://schemas.openxmlformats.org/officeDocument/2006/relationships/hyperlink" Target="https://www.pub.gov.sg/Public/WaterLoop/Water-Conservation/Awards-and-Certifications/Singapore-Watermark-Awards" TargetMode="External"/><Relationship Id="rId6" Type="http://schemas.openxmlformats.org/officeDocument/2006/relationships/hyperlink" Target="https://sustainability.aboutamazon.com/products-services/aws-cloud" TargetMode="External"/><Relationship Id="rId7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FFF0-F30B-4822-A7AE-B2E9265A8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1599"/>
            <a:ext cx="9144000" cy="2138363"/>
          </a:xfrm>
        </p:spPr>
        <p:txBody>
          <a:bodyPr>
            <a:noAutofit/>
          </a:bodyPr>
          <a:lstStyle/>
          <a:p>
            <a:r>
              <a:rPr lang="en-US" sz="4000" b="1" dirty="0"/>
              <a:t>데이터센터 냉각 시스템 내 전기산화(EO) 시스템</a:t>
            </a:r>
            <a:r>
              <a:rPr lang="en-US" altLang="zh-CN" sz="4000" b="1" dirty="0"/>
              <a:t>시스템</a:t>
            </a:r>
            <a:br>
              <a:rPr lang="en-US" altLang="zh-CN" sz="4000" b="1" dirty="0"/>
            </a:br>
            <a:r>
              <a:rPr lang="en-US" sz="4000" b="1" dirty="0"/>
              <a:t>AWS SIN060 사례 기술 검토 (싱가포르)</a:t>
            </a:r>
            <a:endParaRPr lang="en-SG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A3491-F5AC-4C08-B02C-4D407FAC0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1270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/>
              <a:t>내부 평가 및 기술적 고려사항</a:t>
            </a:r>
          </a:p>
          <a:p>
            <a:endParaRPr lang="en-US" sz="2800" dirty="0"/>
          </a:p>
          <a:p>
            <a:r>
              <a:rPr lang="en-US" sz="2800" dirty="0"/>
              <a:t>(AWS 내부 보고서 기반)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695074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9017-AC20-4DEE-A1BF-1C2401697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목차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A5844-C1BC-4A1F-982D-28E7651A8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경영진 요약</a:t>
            </a:r>
          </a:p>
          <a:p>
            <a:r>
              <a:rPr lang="en-SG" dirty="0"/>
              <a:t>EO 시스템이란?</a:t>
            </a:r>
          </a:p>
          <a:p>
            <a:r>
              <a:rPr lang="en-SG" dirty="0"/>
              <a:t>작동 원리</a:t>
            </a:r>
          </a:p>
          <a:p>
            <a:r>
              <a:rPr lang="en-SG" dirty="0"/>
              <a:t>주요 관찰 사항</a:t>
            </a:r>
          </a:p>
          <a:p>
            <a:r>
              <a:rPr lang="en-SG" dirty="0"/>
              <a:t>누락된 정보</a:t>
            </a:r>
          </a:p>
          <a:p>
            <a:r>
              <a:rPr lang="en-US" altLang="zh-CN" dirty="0"/>
              <a:t>핵심 결론</a:t>
            </a:r>
            <a:endParaRPr lang="en-SG" dirty="0"/>
          </a:p>
          <a:p>
            <a:r>
              <a:rPr lang="en-SG" dirty="0"/>
              <a:t>권고 사항</a:t>
            </a:r>
          </a:p>
        </p:txBody>
      </p:sp>
    </p:spTree>
    <p:extLst>
      <p:ext uri="{BB962C8B-B14F-4D97-AF65-F5344CB8AC3E}">
        <p14:creationId xmlns:p14="http://schemas.microsoft.com/office/powerpoint/2010/main" val="152942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경영진 요약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/>
          </a:bodyPr>
          <a:lstStyle/>
          <a:p>
            <a:r>
              <a:rPr lang="en-US" dirty="0"/>
              <a:t xml:space="preserve">EO(전기산화) 시스템은 측류 전기화학적 처리 방식으로, 주로 경도 일부를 제거하고 미생물 제어를 위한 산화제를 생성하도록 설계되어 있습니다. 기존 수처리 프로그램의 완전한 대체 수단이 아닙니다.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 xml:space="preserve"/>
            </a:r>
            <a:r>
              <a:rPr lang="en-US" b="1" dirty="0">
                <a:solidFill>
                  <a:srgbClr val="0070C0"/>
                </a:solidFill>
              </a:rPr>
              <a:t xml:space="preserve"/>
            </a:r>
            <a:r>
              <a:rPr lang="en-US" dirty="0"/>
              <a:t/>
            </a:r>
          </a:p>
          <a:p>
            <a:r>
              <a:rPr lang="en-US" dirty="0"/>
              <a:t xml:space="preserve">AWS SIN060 사례에서 EO 시스템 용량은 냉각수 주 순환량 대비 매우 작으며 (전체 순환 유량의 &lt;0.1% 추정), 1차 처리 시스템이 아닌 마감 처리 또는 보조 처리 수단으로 기능함을 나타냅니다.</a:t>
            </a:r>
            <a:r>
              <a:rPr lang="en-US" b="1" dirty="0">
                <a:solidFill>
                  <a:srgbClr val="0070C0"/>
                </a:solidFill>
              </a:rPr>
              <a:t xml:space="preserve"/>
            </a:r>
            <a:r>
              <a:rPr lang="en-US" dirty="0"/>
              <a:t xml:space="preserve"/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r>
              <a:rPr lang="en-US" dirty="0"/>
              <a:t xml:space="preserve">보고된 성능은 중간 수준의 제거 효율(경도, 전도도, 염화물 일반적으로 &lt;20%)을 보여주며, 전체 시스템 수질에 대한 직접적인 영향은 제한적임을 시사합니다.</a:t>
            </a:r>
            <a:r>
              <a:rPr lang="en-US" b="1" dirty="0">
                <a:solidFill>
                  <a:srgbClr val="0070C0"/>
                </a:solidFill>
              </a:rPr>
              <a:t xml:space="preserve"/>
            </a:r>
            <a:r>
              <a:rPr lang="en-US" dirty="0"/>
              <a:t xml:space="preserve"/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131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경영진 요약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 xml:space="preserve">주장된 WUE 개선(~10%)은 제시된 데이터로 충분히 뒷받침되지 않습니다. 블로우다운, 기준 용수 사용량, 에너지 소비량 등 핵심 운영 매개변수가 명확히 제공되지 않아 실질적인 효과 검증이 어렵습니다.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 xml:space="preserve"/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r>
              <a:rPr lang="en-US" dirty="0"/>
              <a:t xml:space="preserve">EO가 시스템 pH를 크게 낮춘다는 명확한 근거가 없으며, pH는 냉각탑 농축 사이클(CoC) 상향의 주요 제한 인자입니다.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r>
              <a:rPr lang="en-US" dirty="0"/>
              <a:t xml:space="preserve">다음과 같은 여러 핵심 데이터가 누락되어 있습니다: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pPr lvl="1"/>
            <a:r>
              <a:rPr lang="en-US" dirty="0"/>
              <a:t>절대적인 수질 수치 (백분율만 제시됨)</a:t>
            </a:r>
          </a:p>
          <a:p>
            <a:pPr lvl="1"/>
            <a:r>
              <a:rPr lang="en-US" dirty="0"/>
              <a:t>장기 성능 및 안정성</a:t>
            </a:r>
          </a:p>
          <a:p>
            <a:pPr lvl="1"/>
            <a:r>
              <a:rPr lang="en-US" dirty="0"/>
              <a:t>시스템 재질에 대한 부식 영향 (특히 탄소강, 구리, 아연도금 강재)</a:t>
            </a:r>
          </a:p>
          <a:p>
            <a:pPr lvl="1"/>
            <a:r>
              <a:rPr lang="en-US" dirty="0"/>
              <a:t>에너지 소비량 및 전체 비용 영향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9035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경영진 요약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/>
          </a:bodyPr>
          <a:lstStyle/>
          <a:p>
            <a:r>
              <a:rPr lang="en-US" dirty="0"/>
              <a:t xml:space="preserve">엔지니어링 관점에서 EO 시스템은 독립적인 솔루션이 아닌 보완 기술로 간주되어야 합니다. 그 효과는 수질 및 운전 조건에 크게 의존합니다.</a:t>
            </a:r>
            <a:r>
              <a:rPr lang="en-US" b="1" dirty="0">
                <a:solidFill>
                  <a:srgbClr val="0070C0"/>
                </a:solidFill>
              </a:rPr>
              <a:t/>
            </a:r>
            <a:r>
              <a:rPr lang="en-US" dirty="0"/>
              <a:t/>
            </a:r>
          </a:p>
          <a:p>
            <a:r>
              <a:rPr lang="en-US" b="1" dirty="0"/>
              <a:t>권고 사항:</a:t>
            </a:r>
            <a:r>
              <a:rPr lang="en-US" dirty="0"/>
              <a:t/>
            </a:r>
          </a:p>
          <a:p>
            <a:pPr marL="457200" lvl="1" indent="0">
              <a:buNone/>
            </a:pPr>
            <a:r>
              <a:rPr lang="en-US" dirty="0"/>
              <a:t xml:space="preserve">EO 기술은 추가 평가 대상으로 고려할 수 있으나, 파일럿 테스트, 전체 수지 분석, 부식 평가 등 상세 검증 없이 기존 약품 처리의 대체 수단으로 채택해서는 안 됩니다.</a:t>
            </a:r>
            <a:r>
              <a:rPr lang="en-US" b="1" dirty="0">
                <a:solidFill>
                  <a:srgbClr val="0070C0"/>
                </a:solidFill>
              </a:rPr>
              <a:t xml:space="preserve"/>
            </a:r>
            <a:r>
              <a:rPr lang="en-US" dirty="0"/>
              <a:t/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4914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C2F6-1BA0-481F-9970-25037002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096"/>
          </a:xfrm>
        </p:spPr>
        <p:txBody>
          <a:bodyPr/>
          <a:lstStyle/>
          <a:p>
            <a:r>
              <a:rPr lang="en-SG" dirty="0"/>
              <a:t>AWS SIN060 - 현장 이해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6909A-3564-4671-A9C1-6CBAFD43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47" y="1227222"/>
            <a:ext cx="6904996" cy="5085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797F76-6A4F-4005-A1A9-7B869F010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381" y="1820249"/>
            <a:ext cx="4415348" cy="230366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A024415-C71D-4646-92C0-2B5D6BA58413}"/>
              </a:ext>
            </a:extLst>
          </p:cNvPr>
          <p:cNvSpPr/>
          <p:nvPr/>
        </p:nvSpPr>
        <p:spPr>
          <a:xfrm>
            <a:off x="4049501" y="3995363"/>
            <a:ext cx="724504" cy="7191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727610-A6DA-45C0-9877-5F26DB55CACC}"/>
              </a:ext>
            </a:extLst>
          </p:cNvPr>
          <p:cNvCxnSpPr>
            <a:cxnSpLocks/>
          </p:cNvCxnSpPr>
          <p:nvPr/>
        </p:nvCxnSpPr>
        <p:spPr>
          <a:xfrm flipH="1">
            <a:off x="4774005" y="3486304"/>
            <a:ext cx="1168376" cy="752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917275-7D67-47C8-A0F9-B9F6849ADB26}"/>
              </a:ext>
            </a:extLst>
          </p:cNvPr>
          <p:cNvSpPr txBox="1"/>
          <p:nvPr/>
        </p:nvSpPr>
        <p:spPr>
          <a:xfrm>
            <a:off x="1195267" y="5295706"/>
            <a:ext cx="4162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공개 가용 정보 (제한적)</a:t>
            </a:r>
            <a:br>
              <a:rPr lang="en-US" dirty="0"/>
            </a:br>
            <a:r>
              <a:rPr lang="en-US" dirty="0"/>
              <a:t>위치: 12 Sunview Drive, Singapore 627486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E3CFE1-F5C4-44DA-A1CC-609541AE6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713" y="4238377"/>
            <a:ext cx="3645087" cy="21146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CD2360-BF34-4B4F-AD30-4B90176D6E54}"/>
              </a:ext>
            </a:extLst>
          </p:cNvPr>
          <p:cNvSpPr txBox="1"/>
          <p:nvPr/>
        </p:nvSpPr>
        <p:spPr>
          <a:xfrm>
            <a:off x="7931121" y="5757371"/>
            <a:ext cx="3200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냉각탑 면적: 70m × 15m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2DDF3A4-6F74-4365-9852-AFB5F01BE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962" y="1661696"/>
            <a:ext cx="141170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옥상 냉각탑 명확히 확인 가능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대규모 증발식 냉각 시스템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냉각수가 주요 용수 소비원으로 추정됨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예상 냉각 용량: 수십 MW</a:t>
            </a:r>
          </a:p>
        </p:txBody>
      </p:sp>
    </p:spTree>
    <p:extLst>
      <p:ext uri="{BB962C8B-B14F-4D97-AF65-F5344CB8AC3E}">
        <p14:creationId xmlns:p14="http://schemas.microsoft.com/office/powerpoint/2010/main" val="154349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EO 시스템이란?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5923547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정의</a:t>
            </a:r>
          </a:p>
          <a:p>
            <a:r>
              <a:rPr lang="en-US" dirty="0"/>
              <a:t xml:space="preserve">EO(전기산화)는 전기화학적 수처리 기술입니다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물에 전류를 가하여 화학반응을 유도합니다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냉각수 루프에서 일반적으로 측류(바이패스) 처리 시스템으로 설치됩니다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D7C2D-C4DE-40F2-9DC6-F48B3AC8ED1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91039" y="1130969"/>
            <a:ext cx="5600961" cy="412146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001DA90-3F0C-4CC6-AB1C-EF229D6CD81F}"/>
              </a:ext>
            </a:extLst>
          </p:cNvPr>
          <p:cNvSpPr/>
          <p:nvPr/>
        </p:nvSpPr>
        <p:spPr>
          <a:xfrm>
            <a:off x="9192126" y="3191700"/>
            <a:ext cx="1864895" cy="1524679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141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EO 시스템이란?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b="1" dirty="0"/>
              <a:t>주요 기능</a:t>
            </a:r>
          </a:p>
          <a:p>
            <a:r>
              <a:rPr lang="en-SG" dirty="0"/>
              <a:t xml:space="preserve">미생물 제어를 위한 산화제 생성 (예: 유리 염소, 수산화 라디칼)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국부적 침전 촉진을 통한 경도 일부 제거 (Ca, Mg)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산화를 통한 일부 유기 오염물질 (COD) 저감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US" dirty="0"/>
              <a:t xml:space="preserve">특정 조건에서 농축 사이클(CoC) 상향 지원 가능</a:t>
            </a:r>
            <a:r>
              <a:rPr lang="en-US" b="1" dirty="0"/>
              <a:t/>
            </a:r>
            <a:r>
              <a:rPr lang="en-US" b="1" dirty="0" err="1"/>
              <a:t/>
            </a:r>
            <a:r>
              <a:rPr lang="en-US" b="1" dirty="0"/>
              <a:t xml:space="preserve"/>
            </a:r>
            <a:r>
              <a:rPr lang="en-US" dirty="0"/>
              <a:t/>
            </a:r>
          </a:p>
          <a:p>
            <a:pPr marL="0" indent="0">
              <a:buNone/>
            </a:pPr>
            <a:r>
              <a:rPr lang="en-US" b="1" dirty="0"/>
              <a:t>주요 특성</a:t>
            </a:r>
          </a:p>
          <a:p>
            <a:r>
              <a:rPr lang="en-US" dirty="0"/>
              <a:t xml:space="preserve">약품 주입이 아닌 전기화학 반응을 통해 작동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성능은 수질에 크게 의존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약품 처리의 대안으로 포지셔닝되나, 실제로는 보완 기술로 더 일반적으로 적용됨</a:t>
            </a:r>
            <a:r>
              <a:rPr lang="en-US" b="1" dirty="0"/>
              <a:t/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08345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작동 원리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486552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기본 메커니즘</a:t>
            </a:r>
          </a:p>
          <a:p>
            <a:r>
              <a:rPr lang="en-US" dirty="0"/>
              <a:t xml:space="preserve">EO 시스템은 전극(양극 및 음극) 사이에 전류를 인가합니다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>각 전극에서 서로 다른 반응이 발생합니다</a:t>
            </a:r>
          </a:p>
          <a:p>
            <a:pPr marL="0" indent="0">
              <a:buNone/>
            </a:pPr>
            <a:r>
              <a:rPr lang="en-SG" b="1" dirty="0"/>
              <a:t>양극 (산화측)</a:t>
            </a:r>
          </a:p>
          <a:p>
            <a:r>
              <a:rPr lang="en-SG" dirty="0"/>
              <a:t xml:space="preserve">염화물 (Cl⁻) → 염소/산화제 생성 (예: 유리 염소, 라디칼)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소독 및 산화 기능 제공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미생물 성장 및 일부 유기물 제어에 기여</a:t>
            </a:r>
            <a:r>
              <a:rPr lang="en-SG" b="1" dirty="0"/>
              <a:t/>
            </a:r>
            <a:endParaRPr lang="en-SG" dirty="0"/>
          </a:p>
          <a:p>
            <a:pPr marL="0" indent="0">
              <a:buNone/>
            </a:pPr>
            <a:r>
              <a:rPr lang="en-US" b="1" dirty="0"/>
              <a:t>음극 (환원측)</a:t>
            </a:r>
          </a:p>
          <a:p>
            <a:r>
              <a:rPr lang="en-US" dirty="0"/>
              <a:t xml:space="preserve">수분 환원으로 OH⁻ 생성 (국부적 고pH 형성)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>중탄산염 (HCO₃⁻) → 탄산염 (CO₃²⁻) 전환</a:t>
            </a:r>
          </a:p>
          <a:p>
            <a:r>
              <a:rPr lang="en-US" dirty="0"/>
              <a:t xml:space="preserve">CaCO₃ 및 Mg(OH)₂ 침전 유발</a:t>
            </a:r>
            <a:r>
              <a:rPr lang="en-US" b="1" dirty="0"/>
              <a:t xml:space="preserve"/>
            </a:r>
            <a:r>
              <a:rPr lang="en-US" b="1" dirty="0" err="1"/>
              <a:t/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</a:t>
            </a:r>
            <a:r>
              <a:rPr lang="en-US" i="1" dirty="0"/>
              <a:t>전극 표면의 국부적 스케일링을 통해 경도 일부를 제거합니다</a:t>
            </a:r>
            <a:endParaRPr lang="en-US" dirty="0"/>
          </a:p>
          <a:p>
            <a:pPr marL="0" indent="0">
              <a:buNone/>
            </a:pP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672995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SG" dirty="0"/>
              <a:t>작동 원리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442"/>
            <a:ext cx="5851358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시스템 전체 효과</a:t>
            </a:r>
          </a:p>
          <a:p>
            <a:r>
              <a:rPr lang="en-US" dirty="0"/>
              <a:t xml:space="preserve">경도 및 일부 용존 고형물의 부분 제거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미생물 제어를 위한 산화제 생성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>처리된 물은 주 루프로 복귀하여 벌크 수용액과 혼합됩니다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이 반응들은 EO 유닛 내부에서 국부적으로 발생하며, 전체 시스템에 영향을 미치기 위해서는 순환 및 혼합에 의존합니다</a:t>
            </a:r>
            <a:endParaRPr lang="en-SG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FB4AE-9393-42EA-A0AD-164B07BE6CA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3397" y="2496970"/>
            <a:ext cx="5731497" cy="249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1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7222959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1. EO 시스템 규모 대비 냉각 시스템 크기</a:t>
            </a:r>
          </a:p>
          <a:p>
            <a:r>
              <a:rPr lang="en-SG" dirty="0"/>
              <a:t xml:space="preserve">EO 시스템 용량: ~8 m³/h (풀 스케일)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냉각수 순환 추정치: ~9,000 m³/h (WUE 분석 기반)</a:t>
            </a:r>
            <a:r>
              <a:rPr lang="en-SG" b="1" dirty="0"/>
              <a:t/>
            </a:r>
            <a:r>
              <a:rPr lang="en-SG" dirty="0"/>
              <a:t xml:space="preserve"/>
            </a:r>
          </a:p>
          <a:p>
            <a:r>
              <a:rPr lang="en-SG" dirty="0"/>
              <a:t xml:space="preserve">EO treats </a:t>
            </a:r>
            <a:r>
              <a:rPr lang="en-SG" b="1" dirty="0"/>
              <a:t>&lt;0.1% of total system flow</a:t>
            </a:r>
            <a:r>
              <a:rPr lang="en-SG" dirty="0"/>
              <a:t xml:space="preserve"> </a:t>
            </a:r>
          </a:p>
          <a:p>
            <a:r>
              <a:rPr lang="en-SG" dirty="0"/>
              <a:t xml:space="preserve">👉 EO는 1차 처리 시스템이 아닌 측류 마감 처리 시스템으로 기능함을 나타냅니다</a:t>
            </a:r>
            <a:r>
              <a:rPr lang="en-SG" b="1" dirty="0"/>
              <a:t/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3DE07-CFB0-42CE-A388-DB4EBE46D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158" y="2120819"/>
            <a:ext cx="3645087" cy="2114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C0FDF0-E9B8-41C8-9EFD-56E642A74F94}"/>
              </a:ext>
            </a:extLst>
          </p:cNvPr>
          <p:cNvSpPr txBox="1"/>
          <p:nvPr/>
        </p:nvSpPr>
        <p:spPr>
          <a:xfrm>
            <a:off x="8283566" y="3639813"/>
            <a:ext cx="3200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냉각탑 면적: 70m × 15m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A0F860-3466-455F-A115-5708F7F6F123}"/>
              </a:ext>
            </a:extLst>
          </p:cNvPr>
          <p:cNvSpPr/>
          <p:nvPr/>
        </p:nvSpPr>
        <p:spPr>
          <a:xfrm>
            <a:off x="8061158" y="4645184"/>
            <a:ext cx="39221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대형 옥상 냉각탑은 높은 순환 유량 규모를 확인해줍니다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6602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3"/>
            <a:ext cx="9484896" cy="10948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1. EO 시스템 규모 대비 냉각 시스템 크기</a:t>
            </a:r>
          </a:p>
          <a:p>
            <a:r>
              <a:rPr lang="en-US" dirty="0"/>
              <a:t>WUE 기반 냉각수 유량 추정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2D52EB-4274-4E31-877C-994D740D2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941" y="2322095"/>
            <a:ext cx="7464153" cy="40865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E00D50-D165-468A-B7B4-7E7614139214}"/>
              </a:ext>
            </a:extLst>
          </p:cNvPr>
          <p:cNvSpPr txBox="1"/>
          <p:nvPr/>
        </p:nvSpPr>
        <p:spPr>
          <a:xfrm>
            <a:off x="8771021" y="2406317"/>
            <a:ext cx="28875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본 추정은 공개 WUE 데이터와 합리적인 엔지니어링 가정을 기반으로 합니다.</a:t>
            </a:r>
            <a:br>
              <a:rPr lang="en-US" dirty="0"/>
            </a:br>
            <a:r>
              <a:rPr lang="en-US" dirty="0"/>
              <a:t>검증을 위해 AWS 싱가포르 팀과의 추가 확인이 권장됩니다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F997F6-3A86-44BF-B8B2-77163E139911}"/>
              </a:ext>
            </a:extLst>
          </p:cNvPr>
          <p:cNvSpPr/>
          <p:nvPr/>
        </p:nvSpPr>
        <p:spPr>
          <a:xfrm>
            <a:off x="8771020" y="4592770"/>
            <a:ext cx="31763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주요 결과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 xml:space="preserve">냉각수 보충수 추정치: ~76 m³/h</a:t>
            </a:r>
            <a:r>
              <a:rPr lang="en-US" sz="1600" b="1" dirty="0">
                <a:solidFill>
                  <a:srgbClr val="0070C0"/>
                </a:solidFill>
              </a:rPr>
              <a:t/>
            </a:r>
            <a:r>
              <a:rPr lang="en-US" sz="1600" dirty="0">
                <a:solidFill>
                  <a:srgbClr val="0070C0"/>
                </a:solidFill>
              </a:rPr>
              <a:t xml:space="preserve"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 xml:space="preserve">증발량 추정치: ~70 m³/h</a:t>
            </a:r>
            <a:r>
              <a:rPr lang="en-US" sz="1600" b="1" dirty="0">
                <a:solidFill>
                  <a:srgbClr val="0070C0"/>
                </a:solidFill>
              </a:rPr>
              <a:t/>
            </a:r>
            <a:r>
              <a:rPr lang="en-US" sz="1600" dirty="0">
                <a:solidFill>
                  <a:srgbClr val="0070C0"/>
                </a:solidFill>
              </a:rPr>
              <a:t xml:space="preserve"/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 xml:space="preserve">순환 유량 추정치: ~9,200 m³/h</a:t>
            </a:r>
            <a:r>
              <a:rPr lang="en-US" sz="1600" b="1" dirty="0">
                <a:solidFill>
                  <a:srgbClr val="0070C0"/>
                </a:solidFill>
              </a:rPr>
              <a:t/>
            </a:r>
            <a:endParaRPr 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441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 xml:space="preserve">2. 제한적인 제거 효율 및 시스템 영향</a:t>
            </a:r>
            <a:r>
              <a:rPr lang="en-SG" b="1" dirty="0"/>
              <a:t/>
            </a:r>
            <a:r>
              <a:rPr lang="zh-CN" altLang="en-US" b="1" dirty="0"/>
              <a:t xml:space="preserve"/>
            </a:r>
            <a:r>
              <a:rPr lang="en-SG" altLang="zh-CN" b="1" dirty="0"/>
              <a:t/>
            </a:r>
            <a:endParaRPr lang="en-US" b="1" dirty="0"/>
          </a:p>
          <a:p>
            <a:r>
              <a:rPr lang="en-US" dirty="0"/>
              <a:t>일반적으로 보고된 제거율:</a:t>
            </a:r>
          </a:p>
          <a:p>
            <a:pPr lvl="1"/>
            <a:r>
              <a:rPr lang="en-US" dirty="0"/>
              <a:t xml:space="preserve">경도: ~10–20%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 xml:space="preserve">전도도 / TDS: ~4–10%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 xml:space="preserve">염화물: ~5–15%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성능은 중간 수준이며 시간에 따라 변동됨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낮은 처리 규모와 중간 수준의 제거 효율로 인해 전체 시스템 수질에 미치는 영향이 제한적입니다</a:t>
            </a:r>
            <a:r>
              <a:rPr lang="en-US" b="1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63019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CC789C-4D39-4EE5-ACD0-BE8A5DB2C5B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66" y="720725"/>
            <a:ext cx="11557268" cy="5416550"/>
          </a:xfrm>
          <a:prstGeom prst="rect">
            <a:avLst/>
          </a:prstGeom>
          <a:noFill/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688E70-01F1-4683-9C26-C3A688E72854}"/>
              </a:ext>
            </a:extLst>
          </p:cNvPr>
          <p:cNvCxnSpPr/>
          <p:nvPr/>
        </p:nvCxnSpPr>
        <p:spPr>
          <a:xfrm>
            <a:off x="7928585" y="594941"/>
            <a:ext cx="0" cy="5472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606879-BBBD-4A98-8F0E-1034E22509BF}"/>
              </a:ext>
            </a:extLst>
          </p:cNvPr>
          <p:cNvCxnSpPr>
            <a:cxnSpLocks/>
          </p:cNvCxnSpPr>
          <p:nvPr/>
        </p:nvCxnSpPr>
        <p:spPr>
          <a:xfrm>
            <a:off x="986371" y="1943647"/>
            <a:ext cx="69480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8A0603-A352-4AD1-967B-4B09463A60A0}"/>
              </a:ext>
            </a:extLst>
          </p:cNvPr>
          <p:cNvCxnSpPr>
            <a:cxnSpLocks/>
          </p:cNvCxnSpPr>
          <p:nvPr/>
        </p:nvCxnSpPr>
        <p:spPr>
          <a:xfrm>
            <a:off x="7928602" y="1510510"/>
            <a:ext cx="34200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D86B05-DF0E-4622-8D80-3B3BB1FE26C1}"/>
              </a:ext>
            </a:extLst>
          </p:cNvPr>
          <p:cNvSpPr txBox="1"/>
          <p:nvPr/>
        </p:nvSpPr>
        <p:spPr>
          <a:xfrm>
            <a:off x="2225842" y="1510510"/>
            <a:ext cx="354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전도도 1300µS/cm 블로우다운 기준점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0427D-FD89-47FB-AACE-703E3BDBEC1E}"/>
              </a:ext>
            </a:extLst>
          </p:cNvPr>
          <p:cNvSpPr txBox="1"/>
          <p:nvPr/>
        </p:nvSpPr>
        <p:spPr>
          <a:xfrm>
            <a:off x="7934371" y="1178172"/>
            <a:ext cx="354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전도도 1500µS/cm 블로우다운 기준점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2726E-EB4B-459F-918C-1A0A188A609A}"/>
              </a:ext>
            </a:extLst>
          </p:cNvPr>
          <p:cNvSpPr txBox="1"/>
          <p:nvPr/>
        </p:nvSpPr>
        <p:spPr>
          <a:xfrm>
            <a:off x="7086599" y="208884"/>
            <a:ext cx="2887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2024년 11월부터 블로우다운 기준점 변경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0B16DB-25F8-40CB-B096-8BE2538E2E7F}"/>
              </a:ext>
            </a:extLst>
          </p:cNvPr>
          <p:cNvSpPr/>
          <p:nvPr/>
        </p:nvSpPr>
        <p:spPr>
          <a:xfrm>
            <a:off x="345943" y="287588"/>
            <a:ext cx="2599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000" b="1" dirty="0"/>
              <a:t>데이터 일관성 문제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98A7D8F-E4AD-4954-B566-0D973EE0B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27" y="5571898"/>
            <a:ext cx="609599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Y축은 전도도 (µS/cm)로 표시됨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그러나 범례는 총 경도 (mg/L)를 나타냄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단위 및 매개변수 정의가 일치하지 않음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 xml:space="preserve"> </a:t>
            </a:r>
          </a:p>
        </p:txBody>
      </p:sp>
    </p:spTree>
    <p:extLst>
      <p:ext uri="{BB962C8B-B14F-4D97-AF65-F5344CB8AC3E}">
        <p14:creationId xmlns:p14="http://schemas.microsoft.com/office/powerpoint/2010/main" val="2164850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시스템 성능(WUE)에 대한 불명확한 영향</a:t>
            </a:r>
          </a:p>
          <a:p>
            <a:r>
              <a:rPr lang="en-US" dirty="0"/>
              <a:t>WUE 개선(~10%)이 보고됨</a:t>
            </a:r>
          </a:p>
          <a:p>
            <a:r>
              <a:rPr lang="en-US" dirty="0"/>
              <a:t>그러나 추세 분석에 따르면:</a:t>
            </a:r>
          </a:p>
          <a:p>
            <a:pPr lvl="1"/>
            <a:r>
              <a:rPr lang="en-US" dirty="0"/>
              <a:t xml:space="preserve">개선이 EO 확장 이전부터 시작됨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>EO 운전과의 명확한 상관관계 없음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WUE는 냉각 시스템 운전, IT 부하, 환경 조건 등 다양한 요인에 의해 영향을 받습니다.</a:t>
            </a:r>
          </a:p>
          <a:p>
            <a:r>
              <a:rPr lang="en-US" dirty="0"/>
              <a:t xml:space="preserve">👉 </a:t>
            </a:r>
            <a:r>
              <a:rPr lang="en-US" b="1" dirty="0"/>
              <a:t>EO와 WUE 개선 사이의 인과관계가 불명확합니다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33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F423788-C806-B8F5-8897-4B57ED061AFF}"/>
              </a:ext>
            </a:extLst>
          </p:cNvPr>
          <p:cNvGraphicFramePr/>
          <p:nvPr>
            <p:extLst/>
          </p:nvPr>
        </p:nvGraphicFramePr>
        <p:xfrm>
          <a:off x="362989" y="1079066"/>
          <a:ext cx="6441440" cy="3569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1D5C3FF-5F7E-4698-A746-0FCA4412A381}"/>
              </a:ext>
            </a:extLst>
          </p:cNvPr>
          <p:cNvSpPr/>
          <p:nvPr/>
        </p:nvSpPr>
        <p:spPr>
          <a:xfrm>
            <a:off x="337129" y="5087937"/>
            <a:ext cx="5301635" cy="773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그림 C.1: 전도도 기준점 상향(1300µS/cm → 1500µS/cm)이 경도(한계: 500ppm) 및 알칼리도(한계: 450ppm)에 미치는 영향</a:t>
            </a:r>
            <a:endParaRPr lang="en-SG" sz="1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9AEEBDC-4281-4406-914B-005A86074DD3}"/>
              </a:ext>
            </a:extLst>
          </p:cNvPr>
          <p:cNvGraphicFramePr/>
          <p:nvPr>
            <p:extLst/>
          </p:nvPr>
        </p:nvGraphicFramePr>
        <p:xfrm>
          <a:off x="5897966" y="1079066"/>
          <a:ext cx="6181725" cy="3455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7F15D1C-9C6C-4DD1-AA3F-77C5EF1C2A61}"/>
              </a:ext>
            </a:extLst>
          </p:cNvPr>
          <p:cNvSpPr/>
          <p:nvPr/>
        </p:nvSpPr>
        <p:spPr>
          <a:xfrm>
            <a:off x="6527377" y="4820642"/>
            <a:ext cx="5139036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그림 B.1: 2024년 1분기부터 관찰된 WUE 하강 추세</a:t>
            </a:r>
            <a:endParaRPr lang="en-SG" sz="14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619F3D11-6862-4AF2-AEE8-F59D40B9EFA0}"/>
              </a:ext>
            </a:extLst>
          </p:cNvPr>
          <p:cNvSpPr/>
          <p:nvPr/>
        </p:nvSpPr>
        <p:spPr>
          <a:xfrm>
            <a:off x="8470669" y="1661806"/>
            <a:ext cx="357447" cy="4405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80824F-7F04-4C01-A389-70509E5F7049}"/>
              </a:ext>
            </a:extLst>
          </p:cNvPr>
          <p:cNvCxnSpPr/>
          <p:nvPr/>
        </p:nvCxnSpPr>
        <p:spPr>
          <a:xfrm>
            <a:off x="8649392" y="673331"/>
            <a:ext cx="0" cy="397507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4AB148-BD88-4021-BEE1-D48C3CAE7090}"/>
              </a:ext>
            </a:extLst>
          </p:cNvPr>
          <p:cNvCxnSpPr/>
          <p:nvPr/>
        </p:nvCxnSpPr>
        <p:spPr>
          <a:xfrm>
            <a:off x="2165463" y="114846"/>
            <a:ext cx="0" cy="397507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CFD3046-8606-4AEC-998F-07738F3D7E56}"/>
              </a:ext>
            </a:extLst>
          </p:cNvPr>
          <p:cNvSpPr/>
          <p:nvPr/>
        </p:nvSpPr>
        <p:spPr>
          <a:xfrm>
            <a:off x="1986739" y="858778"/>
            <a:ext cx="357447" cy="4405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93BDABBD-97CB-4B3E-A960-8875BD84EF3F}"/>
              </a:ext>
            </a:extLst>
          </p:cNvPr>
          <p:cNvSpPr/>
          <p:nvPr/>
        </p:nvSpPr>
        <p:spPr>
          <a:xfrm flipH="1" flipV="1">
            <a:off x="1986738" y="4529452"/>
            <a:ext cx="357447" cy="44057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6562565-9DEF-4774-9847-D24BEDD156D4}"/>
              </a:ext>
            </a:extLst>
          </p:cNvPr>
          <p:cNvSpPr/>
          <p:nvPr/>
        </p:nvSpPr>
        <p:spPr>
          <a:xfrm flipH="1" flipV="1">
            <a:off x="8470668" y="4485264"/>
            <a:ext cx="357447" cy="44057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2BF83A-728B-42A5-894C-8E9FF5BA438B}"/>
              </a:ext>
            </a:extLst>
          </p:cNvPr>
          <p:cNvSpPr txBox="1"/>
          <p:nvPr/>
        </p:nvSpPr>
        <p:spPr>
          <a:xfrm>
            <a:off x="6983153" y="289236"/>
            <a:ext cx="4926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주요 관찰 사항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WUE 감소는 2024년 6~7월경부터 시작됨</a:t>
            </a:r>
            <a:r>
              <a:rPr lang="en-US" b="1" dirty="0">
                <a:solidFill>
                  <a:srgbClr val="FF0000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타임라인상 직접적인 연관성 없음</a:t>
            </a:r>
            <a:r>
              <a:rPr lang="en-US" b="1" dirty="0">
                <a:solidFill>
                  <a:srgbClr val="FF0000"/>
                </a:solidFill>
              </a:rPr>
              <a:t/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847996-D992-4EF9-9BEB-53CB32D63A56}"/>
              </a:ext>
            </a:extLst>
          </p:cNvPr>
          <p:cNvSpPr txBox="1"/>
          <p:nvPr/>
        </p:nvSpPr>
        <p:spPr>
          <a:xfrm>
            <a:off x="947541" y="388108"/>
            <a:ext cx="4926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주요 관찰 사항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블로우다운 기준점이 2024년 11월에 상향됨</a:t>
            </a:r>
            <a:r>
              <a:rPr lang="en-US" b="1" dirty="0">
                <a:solidFill>
                  <a:srgbClr val="FF0000"/>
                </a:solidFill>
              </a:rPr>
              <a:t/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5CB119F-4D9F-40A8-A5C9-4B07A9A2B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083" y="5474773"/>
            <a:ext cx="4351385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해석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WUE 개선은 주요 운전 변경 이전에 발생하였으며, 이는 EO 시스템 성능에 의한 것일 가능성이 낮음을 나타냅니다.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08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A41546-01A7-4B7A-B472-55B6C50AC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94" y="658349"/>
            <a:ext cx="9398708" cy="4606933"/>
          </a:xfrm>
          <a:prstGeom prst="rect">
            <a:avLst/>
          </a:prstGeom>
        </p:spPr>
      </p:pic>
      <p:pic>
        <p:nvPicPr>
          <p:cNvPr id="12290" name="Picture 2" descr="Our Purpose">
            <a:extLst>
              <a:ext uri="{FF2B5EF4-FFF2-40B4-BE49-F238E27FC236}">
                <a16:creationId xmlns:a16="http://schemas.microsoft.com/office/drawing/2014/main" id="{B70D28DE-0FF2-47A8-B616-CB02EC6B7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015" y="3960107"/>
            <a:ext cx="31051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F87C147-5286-4BC0-8291-A09C2DD4603D}"/>
              </a:ext>
            </a:extLst>
          </p:cNvPr>
          <p:cNvSpPr/>
          <p:nvPr/>
        </p:nvSpPr>
        <p:spPr>
          <a:xfrm>
            <a:off x="1340605" y="3465096"/>
            <a:ext cx="528193" cy="312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E3F697-C6D2-41E6-A8E3-CBB90B12D5E9}"/>
              </a:ext>
            </a:extLst>
          </p:cNvPr>
          <p:cNvSpPr/>
          <p:nvPr/>
        </p:nvSpPr>
        <p:spPr>
          <a:xfrm>
            <a:off x="7464678" y="3465096"/>
            <a:ext cx="528193" cy="312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57296A-EC8C-4ED5-A5D1-E052953D51D5}"/>
              </a:ext>
            </a:extLst>
          </p:cNvPr>
          <p:cNvSpPr/>
          <p:nvPr/>
        </p:nvSpPr>
        <p:spPr>
          <a:xfrm>
            <a:off x="7464678" y="842212"/>
            <a:ext cx="528193" cy="312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92B446-A892-4A8A-930E-19BDC54A7DE7}"/>
              </a:ext>
            </a:extLst>
          </p:cNvPr>
          <p:cNvCxnSpPr/>
          <p:nvPr/>
        </p:nvCxnSpPr>
        <p:spPr>
          <a:xfrm>
            <a:off x="1868798" y="3621506"/>
            <a:ext cx="558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506FC2-C6F0-4300-83A5-264043640DC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7728775" y="1155034"/>
            <a:ext cx="0" cy="23100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306922-3482-4B9C-8E1E-546FF1624639}"/>
              </a:ext>
            </a:extLst>
          </p:cNvPr>
          <p:cNvSpPr txBox="1"/>
          <p:nvPr/>
        </p:nvSpPr>
        <p:spPr>
          <a:xfrm>
            <a:off x="924495" y="5399057"/>
            <a:ext cx="10635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보고서는 CoC가 ~13에서 ~15로 증가했음을 나타내며, NEA 참고 기준 이에 상응하는 절수 효과는 약 ~1%입니다.</a:t>
            </a:r>
            <a:r>
              <a:rPr lang="en-US" dirty="0" err="1">
                <a:solidFill>
                  <a:srgbClr val="FF0000"/>
                </a:solidFill>
              </a:rPr>
              <a:t/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 xml:space="preserve"/>
            </a:r>
            <a:r>
              <a:rPr lang="en-US" b="1" dirty="0">
                <a:solidFill>
                  <a:srgbClr val="FF0000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이는 보고된 ~10% WUE 개선과 현저히 차이가 납니다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따라서 CoC 증가만으로는 보고된 WUE 개선을 설명할 수 없습니다.</a:t>
            </a:r>
            <a:r>
              <a:rPr lang="en-US" dirty="0" err="1">
                <a:solidFill>
                  <a:srgbClr val="FF0000"/>
                </a:solidFill>
              </a:rPr>
              <a:t/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  <a:r>
              <a:rPr lang="en-US" dirty="0"/>
              <a:t/>
            </a:r>
            <a:endParaRPr lang="en-S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349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00CDD-8A6A-42A4-BA5D-1A86C9E88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328" y="1089801"/>
            <a:ext cx="6690455" cy="39380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6207FB-F065-4039-9A75-2638CF195D7F}"/>
              </a:ext>
            </a:extLst>
          </p:cNvPr>
          <p:cNvSpPr/>
          <p:nvPr/>
        </p:nvSpPr>
        <p:spPr>
          <a:xfrm>
            <a:off x="4605328" y="5244979"/>
            <a:ext cx="66904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냉각탑 절수를 위한 기술 참고 자료</a:t>
            </a:r>
          </a:p>
          <a:p>
            <a:pPr algn="r"/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1</a:t>
            </a:r>
            <a:r>
              <a:rPr 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 xml:space="preserve">st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Edition: Nov 2017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D8147-D187-4E05-91C6-6B9C7B84C812}"/>
              </a:ext>
            </a:extLst>
          </p:cNvPr>
          <p:cNvSpPr txBox="1"/>
          <p:nvPr/>
        </p:nvSpPr>
        <p:spPr>
          <a:xfrm>
            <a:off x="276726" y="1203158"/>
            <a:ext cx="43286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맥락: 싱가포르 수질 특성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NEWater는 낮은 경도, 알칼리도, 염화물 수준을 가집니다</a:t>
            </a:r>
            <a:r>
              <a:rPr lang="en-US" b="1" dirty="0">
                <a:solidFill>
                  <a:srgbClr val="FF0000"/>
                </a:solidFill>
              </a:rPr>
              <a:t/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냉각 시스템은 일반적으로 달성 가능: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FF0000"/>
                </a:solidFill>
              </a:rPr>
              <a:t>화학 최적화 없이 CoC ~10</a:t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조건에 따라 ~15 이상까지 가능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 xml:space="preserve">높은 CoC 운전은 EO 처리 없이도 달성 가능할 수 있습니다.</a:t>
            </a:r>
            <a:r>
              <a:rPr lang="en-US" dirty="0" err="1">
                <a:solidFill>
                  <a:srgbClr val="FF0000"/>
                </a:solidFill>
              </a:rPr>
              <a:t/>
            </a:r>
            <a:r>
              <a:rPr lang="en-US" dirty="0">
                <a:solidFill>
                  <a:srgbClr val="FF0000"/>
                </a:solidFill>
              </a:rPr>
              <a:t xml:space="preserve"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전체 수질 정보 파악을 위해 AWS 싱가포르 팀과 확인하는 것이 좋습니다</a:t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A1DE271-845D-4500-AC0A-B781714CD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42" y="5577899"/>
            <a:ext cx="839804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WUE에 대한 종합 결론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보고된 WUE 개선은 다양한 운전 요인의 영향을 받았을 가능성이 높으며, EO 시스템 단독으로 직접 귀인될 수 없습니다.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6428875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전체 수질에 대한 제한적인 영향</a:t>
            </a:r>
          </a:p>
          <a:p>
            <a:r>
              <a:rPr lang="en-US" dirty="0"/>
              <a:t>다음에 대한 명확한 근거 없음:</a:t>
            </a:r>
          </a:p>
          <a:p>
            <a:pPr lvl="1"/>
            <a:r>
              <a:rPr lang="en-US" dirty="0"/>
              <a:t xml:space="preserve">유의미한 pH 저하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 xml:space="preserve">안정적인 염화물 제거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제거 효과는 국부적이고 제한적인 것으로 보임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</a:t>
            </a:r>
            <a:r>
              <a:rPr lang="en-US" b="1" dirty="0"/>
              <a:t>EO 운전에도 불구하고 전체 시스템 조건은 크게 변하지 않습니다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47D8A-BBEF-49F1-8504-69611727851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69" y="2124108"/>
            <a:ext cx="4541972" cy="294118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6CFD09-E12B-48E6-9D1B-7D1A3A43FFFA}"/>
              </a:ext>
            </a:extLst>
          </p:cNvPr>
          <p:cNvSpPr txBox="1"/>
          <p:nvPr/>
        </p:nvSpPr>
        <p:spPr>
          <a:xfrm>
            <a:off x="7074569" y="5197642"/>
            <a:ext cx="454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염화물 수준이 100~110 ppm에 접근할 때 평탄화되는 것으로 보임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36B0BA-EBF9-4F3A-890C-08C6C0CC6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53" y="5558876"/>
            <a:ext cx="62925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해석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EO 유닛 내부에서 생성된 변화는 국부적이며 전체 벌크 수질을 크게 변화시키기에 충분하지 않을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304524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AWS SIN060 사례의 주요 관찰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수질 의존성</a:t>
            </a:r>
          </a:p>
          <a:p>
            <a:r>
              <a:rPr lang="en-US" dirty="0"/>
              <a:t>다음에 따라 성능이 달라집니다:</a:t>
            </a:r>
          </a:p>
          <a:p>
            <a:pPr lvl="1"/>
            <a:r>
              <a:rPr lang="en-US" dirty="0"/>
              <a:t>경도 수준</a:t>
            </a:r>
          </a:p>
          <a:p>
            <a:pPr lvl="1"/>
            <a:r>
              <a:rPr lang="en-US" dirty="0"/>
              <a:t>염화물 농도</a:t>
            </a:r>
          </a:p>
          <a:p>
            <a:pPr lvl="1"/>
            <a:r>
              <a:rPr lang="en-US" dirty="0"/>
              <a:t>운전 조건</a:t>
            </a:r>
          </a:p>
          <a:p>
            <a:r>
              <a:rPr lang="en-US" dirty="0"/>
              <a:t xml:space="preserve">낮은 경도/저염도 수질(예: 싱가포르 및 한국)에서는 효과가 더욱 제한될 수 있습니다</a:t>
            </a:r>
            <a:r>
              <a:rPr lang="en-SG" dirty="0"/>
              <a:t/>
            </a:r>
            <a:r>
              <a:rPr lang="zh-CN" altLang="en-US" dirty="0"/>
              <a:t xml:space="preserve"/>
            </a:r>
            <a:r>
              <a:rPr lang="en-SG" altLang="zh-CN" dirty="0"/>
              <a:t/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559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절대적 수질 데이터 부재</a:t>
            </a:r>
          </a:p>
          <a:p>
            <a:r>
              <a:rPr lang="en-US" dirty="0"/>
              <a:t xml:space="preserve">대부분의 결과가 백분율(%)로만 제시됨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실제 수치(mg/L, µS/cm)의 일관된 보고 없음</a:t>
            </a:r>
            <a:r>
              <a:rPr lang="en-US" b="1" dirty="0"/>
              <a:t xml:space="preserve"/>
            </a:r>
            <a:r>
              <a:rPr lang="en-SG" dirty="0"/>
              <a:t/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>
                <a:solidFill>
                  <a:srgbClr val="0070C0"/>
                </a:solidFill>
              </a:rPr>
              <a:t>싱가포르 NEWater는 불순물 수준이 비교적 낮기 때문에, 백분율만으로는 제거의 실질적 의미를 과대평가할 수 있습니다</a:t>
            </a:r>
          </a:p>
          <a:p>
            <a:r>
              <a:rPr lang="en-US" dirty="0"/>
              <a:t xml:space="preserve">👉 실제 시스템 영향을 평가하는 능력이 제한됩니다</a:t>
            </a:r>
            <a:r>
              <a:rPr lang="en-US" b="1" dirty="0"/>
              <a:t xml:space="preserve"/>
            </a:r>
            <a:r>
              <a:rPr lang="en-SG" b="1" dirty="0"/>
              <a:t/>
            </a:r>
            <a:r>
              <a:rPr lang="en-US" b="1" dirty="0"/>
              <a:t xml:space="preserve"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15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 xml:space="preserve">2. 완전한 수지 정보 부재</a:t>
            </a:r>
            <a:r>
              <a:rPr lang="en-US" altLang="zh-CN" b="1" dirty="0"/>
              <a:t/>
            </a:r>
            <a:r>
              <a:rPr lang="en-US" b="1" dirty="0"/>
              <a:t xml:space="preserve"/>
            </a:r>
          </a:p>
          <a:p>
            <a:r>
              <a:rPr lang="en-US" dirty="0"/>
              <a:t xml:space="preserve">수지 분석에 필요한 핵심 매개변수 누락:</a:t>
            </a:r>
            <a:r>
              <a:rPr lang="en-SG" dirty="0"/>
              <a:t xml:space="preserve"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>보충수 유량</a:t>
            </a:r>
          </a:p>
          <a:p>
            <a:pPr lvl="1"/>
            <a:r>
              <a:rPr lang="en-US" dirty="0"/>
              <a:t>블로우다운 용량</a:t>
            </a:r>
          </a:p>
          <a:p>
            <a:pPr lvl="1"/>
            <a:r>
              <a:rPr lang="en-US" dirty="0"/>
              <a:t>증발 손실</a:t>
            </a:r>
          </a:p>
          <a:p>
            <a:r>
              <a:rPr lang="en-US" dirty="0"/>
              <a:t xml:space="preserve">냉각 시스템 내 실제 WUE 구성 요소의 명확한 계산 없음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>전체 수지 없이는:</a:t>
            </a:r>
          </a:p>
          <a:p>
            <a:pPr lvl="1"/>
            <a:r>
              <a:rPr lang="en-US" dirty="0"/>
              <a:t>실제 절수 효과를 정량화할 수 없음</a:t>
            </a:r>
          </a:p>
          <a:p>
            <a:pPr lvl="1"/>
            <a:r>
              <a:rPr lang="en-US" dirty="0"/>
              <a:t xml:space="preserve">CoC 증가로 인한 기여분을 검증할 수 없음</a:t>
            </a:r>
            <a:r>
              <a:rPr lang="en-US" dirty="0" err="1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보고된 WUE 개선은 독립적으로 검증할 수 없으며 미고려 요인의 영향을 받았을 수 있습니다</a:t>
            </a:r>
            <a:r>
              <a:rPr lang="en-US" b="1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97145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 xml:space="preserve">3. 불명확한 에너지 소비 데이터 및 영향</a:t>
            </a:r>
            <a:r>
              <a:rPr lang="en-US" altLang="zh-CN" b="1" dirty="0"/>
              <a:t xml:space="preserve"/>
            </a:r>
            <a:r>
              <a:rPr lang="en-US" b="1" dirty="0"/>
              <a:t xml:space="preserve"/>
            </a:r>
          </a:p>
          <a:p>
            <a:r>
              <a:rPr lang="en-US" dirty="0"/>
              <a:t xml:space="preserve">EO 시스템은 전력을 사용하여 운전됩니다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보고서에서 약 ~0.25 kWh/m³를 언급하나, 기준 및 운전 조건이 명확히 정의되지 않았습니다: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>기준 및 운전 조건이 명확히 정의되지 않음</a:t>
            </a:r>
          </a:p>
          <a:p>
            <a:pPr lvl="1"/>
            <a:r>
              <a:rPr lang="en-US" dirty="0"/>
              <a:t xml:space="preserve">전체 시스템 에너지 소비량에 대한 정보 없음</a:t>
            </a:r>
            <a:r>
              <a:rPr lang="en-US" dirty="0" err="1"/>
              <a:t/>
            </a:r>
            <a:endParaRPr lang="en-US" dirty="0"/>
          </a:p>
          <a:p>
            <a:r>
              <a:rPr lang="en-SG" dirty="0"/>
              <a:t>시사점</a:t>
            </a:r>
            <a:endParaRPr lang="en-US" dirty="0"/>
          </a:p>
          <a:p>
            <a:pPr lvl="1"/>
            <a:r>
              <a:rPr lang="en-US" dirty="0"/>
              <a:t>에너지 투입이 낮은 경우:</a:t>
            </a:r>
          </a:p>
          <a:p>
            <a:pPr lvl="2"/>
            <a:r>
              <a:rPr lang="en-US" dirty="0"/>
              <a:t>처리 강도 또한 제한될 수 있음</a:t>
            </a:r>
          </a:p>
          <a:p>
            <a:pPr lvl="1"/>
            <a:r>
              <a:rPr lang="en-US" dirty="0"/>
              <a:t>처리 효과가 크다면:</a:t>
            </a:r>
          </a:p>
          <a:p>
            <a:pPr lvl="2"/>
            <a:r>
              <a:rPr lang="en-US" dirty="0"/>
              <a:t>실제 에너지 소비량이 보고값보다 높을 수 있음</a:t>
            </a:r>
          </a:p>
          <a:p>
            <a:r>
              <a:rPr lang="en-US" dirty="0"/>
              <a:t xml:space="preserve">👉 전반적인 효율, 에너지 영향 및 비용 효율성을 제대로 평가할 수 없습니다</a:t>
            </a:r>
            <a:r>
              <a:rPr lang="en-US" b="1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64590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b="1" dirty="0"/>
              <a:t xml:space="preserve">4. 부식 영향 평가 부재</a:t>
            </a:r>
            <a:r>
              <a:rPr lang="en-SG" b="1" dirty="0">
                <a:solidFill>
                  <a:srgbClr val="FF0000"/>
                </a:solidFill>
              </a:rPr>
              <a:t/>
            </a:r>
            <a:r>
              <a:rPr lang="en-SG" b="1" dirty="0"/>
              <a:t xml:space="preserve"/>
            </a:r>
          </a:p>
          <a:p>
            <a:r>
              <a:rPr lang="en-US" dirty="0"/>
              <a:t xml:space="preserve">냉각수 시스템에서 부식 제어는 핵심 요구사항입니다</a:t>
            </a:r>
            <a:r>
              <a:rPr lang="en-US" b="1" dirty="0"/>
              <a:t/>
            </a:r>
            <a:r>
              <a:rPr lang="en-US" dirty="0"/>
              <a:t xml:space="preserve"/>
            </a:r>
            <a:endParaRPr lang="en-US" dirty="0">
              <a:solidFill>
                <a:srgbClr val="0070C0"/>
              </a:solidFill>
            </a:endParaRPr>
          </a:p>
          <a:p>
            <a:r>
              <a:rPr lang="en-SG" dirty="0"/>
              <a:t>다음에 대한 데이터 없음:</a:t>
            </a:r>
          </a:p>
          <a:p>
            <a:pPr lvl="1"/>
            <a:r>
              <a:rPr lang="en-SG" dirty="0"/>
              <a:t>부식 속도 (예: 탄소강, 구리)</a:t>
            </a:r>
          </a:p>
          <a:p>
            <a:pPr lvl="1"/>
            <a:r>
              <a:rPr lang="en-SG" dirty="0"/>
              <a:t>재질 호환성</a:t>
            </a:r>
          </a:p>
          <a:p>
            <a:r>
              <a:rPr lang="en-US" dirty="0"/>
              <a:t>EO는 산화제를 생성하고 국부적 pH 변화를 유발하며, 이 두 가지 모두 부식 거동에 영향을 미칠 수 있습니다</a:t>
            </a:r>
          </a:p>
          <a:p>
            <a:r>
              <a:rPr lang="en-US" dirty="0">
                <a:solidFill>
                  <a:srgbClr val="0070C0"/>
                </a:solidFill>
              </a:rPr>
              <a:t>부식 억제 능력을 입증하는 명확한 메커니즘이나 근거가 제공되지 않았습니다.</a:t>
            </a:r>
          </a:p>
          <a:p>
            <a:r>
              <a:rPr lang="en-SG" dirty="0"/>
              <a:t xml:space="preserve">👉 </a:t>
            </a:r>
            <a:r>
              <a:rPr lang="en-US" b="1" dirty="0"/>
              <a:t>잠재적 부식 위험이 평가되지 않았으며 장기적인 신뢰성 우려가 있을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569314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 xml:space="preserve">5. 미생물 성장 영향 평가 부재</a:t>
            </a:r>
            <a:r>
              <a:rPr lang="en-SG" b="1" dirty="0">
                <a:solidFill>
                  <a:srgbClr val="FF0000"/>
                </a:solidFill>
              </a:rPr>
              <a:t/>
            </a:r>
            <a:r>
              <a:rPr lang="en-SG" b="1" dirty="0"/>
              <a:t xml:space="preserve"/>
            </a:r>
          </a:p>
          <a:p>
            <a:r>
              <a:rPr lang="en-SG" dirty="0"/>
              <a:t>다음에 대한 데이터 없음:</a:t>
            </a:r>
          </a:p>
          <a:p>
            <a:pPr lvl="1"/>
            <a:r>
              <a:rPr lang="en-SG" dirty="0"/>
              <a:t>세균 수 (HPC) 결과</a:t>
            </a:r>
          </a:p>
          <a:p>
            <a:pPr lvl="1"/>
            <a:r>
              <a:rPr lang="en-SG" dirty="0"/>
              <a:t>레지오넬라 검사 결과</a:t>
            </a:r>
          </a:p>
          <a:p>
            <a:r>
              <a:rPr lang="en-US" dirty="0"/>
              <a:t>싱가포르 규제 요건 준수 여부에 대한 정보 없음 (예: 주기적 세척, 소독 및 모니터링)</a:t>
            </a:r>
          </a:p>
          <a:p>
            <a:r>
              <a:rPr lang="en-US" dirty="0">
                <a:solidFill>
                  <a:srgbClr val="0070C0"/>
                </a:solidFill>
              </a:rPr>
              <a:t>측류에서 보고된 ~0.2 ppm의 유리 염소는 주 순환 루프에서 충분한 미생물 제어를 제공하기 어렵습니다</a:t>
            </a:r>
          </a:p>
          <a:p>
            <a:r>
              <a:rPr lang="en-SG" dirty="0"/>
              <a:t xml:space="preserve">👉 </a:t>
            </a:r>
            <a:r>
              <a:rPr lang="en-US" b="1" dirty="0"/>
              <a:t>잠재적 미생물 성장 위험이 평가되지 않았으며 시스템 안전성 및 규정 준수에 영향을 미칠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4061763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6. 장기 성능 안정성 부재</a:t>
            </a:r>
          </a:p>
          <a:p>
            <a:r>
              <a:rPr lang="en-US" dirty="0"/>
              <a:t>보고서는 ~18개월의 운전을 보여줍니다</a:t>
            </a:r>
          </a:p>
          <a:p>
            <a:r>
              <a:rPr lang="en-US" dirty="0"/>
              <a:t>다음에 대한 제한적인 정보:</a:t>
            </a:r>
          </a:p>
          <a:p>
            <a:pPr lvl="1"/>
            <a:r>
              <a:rPr lang="en-US" dirty="0"/>
              <a:t xml:space="preserve">시간에 따른 성능 저하</a:t>
            </a:r>
            <a:r>
              <a:rPr lang="en-SG" dirty="0"/>
              <a:t xml:space="preserve"/>
            </a:r>
            <a:r>
              <a:rPr lang="en-US" dirty="0"/>
              <a:t xml:space="preserve"/>
            </a:r>
          </a:p>
          <a:p>
            <a:pPr lvl="1"/>
            <a:r>
              <a:rPr lang="en-US" dirty="0"/>
              <a:t xml:space="preserve">유지보수 빈도 및 요건 (EO 시스템은 주기적 세척이 필요할 수 있으며 (예: 음극 스케일 제거), 성능 일관성 및 운전 비용에 영향을 미칠 수 있습니다.)</a:t>
            </a:r>
            <a:r>
              <a:rPr lang="en-SG" dirty="0"/>
              <a:t/>
            </a:r>
            <a:r>
              <a:rPr lang="en-US" dirty="0"/>
              <a:t xml:space="preserve"/>
            </a:r>
            <a:r>
              <a:rPr lang="en-US" dirty="0">
                <a:solidFill>
                  <a:srgbClr val="0070C0"/>
                </a:solidFill>
              </a:rPr>
              <a:t/>
            </a:r>
          </a:p>
          <a:p>
            <a:pPr lvl="1"/>
            <a:r>
              <a:rPr lang="en-US" dirty="0"/>
              <a:t>전극 파울링 또는 스케일링</a:t>
            </a:r>
          </a:p>
          <a:p>
            <a:r>
              <a:rPr lang="en-US" dirty="0"/>
              <a:t xml:space="preserve">👉 </a:t>
            </a:r>
            <a:r>
              <a:rPr lang="en-US" b="1" dirty="0"/>
              <a:t>장기 운전 및 유지보수 데이터 없이는 성능 지속성이 불확실합니다</a:t>
            </a:r>
          </a:p>
        </p:txBody>
      </p:sp>
    </p:spTree>
    <p:extLst>
      <p:ext uri="{BB962C8B-B14F-4D97-AF65-F5344CB8AC3E}">
        <p14:creationId xmlns:p14="http://schemas.microsoft.com/office/powerpoint/2010/main" val="985210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BC9-1E0F-413D-8E9F-775B6D6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누락된 정보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5E23-79DD-4A1D-9609-9590FADB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442"/>
            <a:ext cx="10375233" cy="486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7. 명확한 기준 또는 비교 사례 부재</a:t>
            </a:r>
          </a:p>
          <a:p>
            <a:r>
              <a:rPr lang="en-US" dirty="0"/>
              <a:t>다음과의 비교 없음:</a:t>
            </a:r>
          </a:p>
          <a:p>
            <a:pPr lvl="1"/>
            <a:r>
              <a:rPr lang="en-US" dirty="0"/>
              <a:t>기존 약품 처리</a:t>
            </a:r>
          </a:p>
          <a:p>
            <a:pPr lvl="1"/>
            <a:r>
              <a:rPr lang="en-US" dirty="0"/>
              <a:t>EO 도입 이전의 동일 시스템</a:t>
            </a:r>
          </a:p>
          <a:p>
            <a:r>
              <a:rPr lang="en-US" dirty="0"/>
              <a:t xml:space="preserve">개선 주장에 대조 기준이 없음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👉 </a:t>
            </a:r>
            <a:r>
              <a:rPr lang="en-US" b="1" dirty="0"/>
              <a:t>관찰된 성능 개선을 EO 시스템에 직접 귀인하기 어렵습니다</a:t>
            </a:r>
          </a:p>
        </p:txBody>
      </p:sp>
    </p:spTree>
    <p:extLst>
      <p:ext uri="{BB962C8B-B14F-4D97-AF65-F5344CB8AC3E}">
        <p14:creationId xmlns:p14="http://schemas.microsoft.com/office/powerpoint/2010/main" val="2109066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EEF0-345B-46F7-96F6-6289077E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핵심 결론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BDF4F-4F50-49D9-9984-7B031CE51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/>
          <a:lstStyle/>
          <a:p>
            <a:r>
              <a:rPr lang="en-US" dirty="0"/>
              <a:t xml:space="preserve">EO 시스템은 소규모 측류 유닛으로 운전되며 전체 시스템 유량의 극히 일부만을 처리합니다</a:t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 xml:space="preserve">전체 수질 및 시스템 성능에 대한 영향이 제한적이며 명확히 입증되지 않았습니다</a:t>
            </a:r>
            <a:r>
              <a:rPr lang="en-US" b="1" dirty="0"/>
              <a:t xml:space="preserve"/>
            </a:r>
            <a:r>
              <a:rPr lang="en-US" dirty="0"/>
              <a:t xml:space="preserve"/>
            </a:r>
            <a:r>
              <a:rPr lang="en-US" b="1" dirty="0"/>
              <a:t/>
            </a:r>
            <a:r>
              <a:rPr lang="en-US" dirty="0"/>
              <a:t xml:space="preserve"/>
            </a:r>
            <a:r>
              <a:rPr lang="en-US" b="1" dirty="0"/>
              <a:t/>
            </a:r>
          </a:p>
          <a:p>
            <a:r>
              <a:rPr lang="en-US" dirty="0"/>
              <a:t xml:space="preserve">보고된 개선 사항(예: WUE)은 가용 데이터를 기반으로 EO 시스템에 직접 귀인될 수 없습니다</a:t>
            </a:r>
            <a:r>
              <a:rPr lang="en-US" b="1" dirty="0"/>
              <a:t/>
            </a:r>
            <a:r>
              <a:rPr lang="en-US" dirty="0"/>
              <a:t xml:space="preserve"/>
            </a:r>
          </a:p>
          <a:p>
            <a:r>
              <a:rPr lang="en-US" dirty="0"/>
              <a:t xml:space="preserve">부식 제어, 미생물 제어, 장기 안정성 등 핵심 사항이 검증되지 않았습니다</a:t>
            </a:r>
            <a:r>
              <a:rPr lang="en-US" b="1" dirty="0"/>
              <a:t/>
            </a:r>
          </a:p>
          <a:p>
            <a:r>
              <a:rPr lang="en-US" dirty="0"/>
              <a:t xml:space="preserve">전반적으로 EO는 기존 수처리의 대체 수단이 아닌 보완 기술로 간주되어야 합니다</a:t>
            </a:r>
            <a:r>
              <a:rPr lang="en-US" b="1" dirty="0"/>
              <a:t/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865123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EEF0-345B-46F7-96F6-6289077E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권고 사항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BDF4F-4F50-49D9-9984-7B031CE51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/>
          <a:lstStyle/>
          <a:p>
            <a:r>
              <a:rPr lang="en-US" dirty="0"/>
              <a:t>EO를 전면 거부하지 않되, 한국과 싱가포르 수질 조건의 차이를 고려하여 그 한계를 명확히 전달합니다</a:t>
            </a:r>
          </a:p>
          <a:p>
            <a:r>
              <a:rPr lang="en-US" dirty="0"/>
              <a:t>위험 평가를 위해 싱가포르 사례의 상세 데이터(수질 및 운전)를 요청합니다</a:t>
            </a:r>
          </a:p>
          <a:p>
            <a:r>
              <a:rPr lang="en-US" dirty="0"/>
              <a:t>본사에 잠재적 위험 및 우려 사항을 설명하도록 고객사를 지원합니다</a:t>
            </a:r>
          </a:p>
          <a:p>
            <a:r>
              <a:rPr lang="en-US" dirty="0"/>
              <a:t>현재 수처리 프로그램을 유지하며, EO 도입을 검토해야 한다면 소규모 파일럿부터 시작합니다</a:t>
            </a:r>
          </a:p>
          <a:p>
            <a:r>
              <a:rPr lang="en-US" dirty="0"/>
              <a:t>추가 참고를 위해 인도네시아 AWS 사이트의 EO 적용 사례를 확인합니다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58256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812B-8FD5-4313-A4CC-FB83CACB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BC2C-9673-4E85-A737-C9D62B9B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6341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1912A8-26AD-4E18-AA3C-62C983D64412}"/>
              </a:ext>
            </a:extLst>
          </p:cNvPr>
          <p:cNvSpPr/>
          <p:nvPr/>
        </p:nvSpPr>
        <p:spPr>
          <a:xfrm>
            <a:off x="944879" y="568189"/>
            <a:ext cx="10451869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SG" dirty="0"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</a:rPr>
              <a:t> 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u="sng" dirty="0">
                <a:solidFill>
                  <a:srgbClr val="0000FF"/>
                </a:solidFill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  <a:hlinkClick r:id="rId2"/>
              </a:rPr>
              <a:t>https://www.hydroleap.com/hl-eo-ct/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dirty="0"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</a:rPr>
              <a:t> 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u="sng" dirty="0">
                <a:solidFill>
                  <a:srgbClr val="0000FF"/>
                </a:solidFill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  <a:hlinkClick r:id="rId3"/>
              </a:rPr>
              <a:t>https://www.aboutamazon.sg/news/aws/4-ways-aws-is-innovating-on-water-sustainability-in-singapore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dirty="0"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</a:rPr>
              <a:t> 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u="sng" dirty="0">
                <a:solidFill>
                  <a:srgbClr val="0000FF"/>
                </a:solidFill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  <a:hlinkClick r:id="rId4"/>
              </a:rPr>
              <a:t>https://www.imda.gov.sg/-/media/imda/files/how-we-can-help/green-dc-roadmap/green-dc-roadmap.pdf?utm_source=chatgpt.com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dirty="0"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</a:rPr>
              <a:t> </a:t>
            </a: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r>
              <a:rPr lang="en-SG" u="sng" dirty="0">
                <a:solidFill>
                  <a:srgbClr val="0000FF"/>
                </a:solidFill>
                <a:latin typeface="Calibri" panose="020F0502020204030204" pitchFamily="34" charset="0"/>
                <a:ea typeface="Gulim" panose="020B0600000101010101" pitchFamily="34" charset="-127"/>
                <a:cs typeface="Gulim" panose="020B0600000101010101" pitchFamily="34" charset="-127"/>
                <a:hlinkClick r:id="rId5"/>
              </a:rPr>
              <a:t>https://www.pub.gov.sg/Public/WaterLoop/Water-Conservation/Awards-and-Certifications/Singapore-Watermark-Awards</a:t>
            </a:r>
            <a:endParaRPr lang="en-SG" u="sng" dirty="0">
              <a:solidFill>
                <a:srgbClr val="0000FF"/>
              </a:solidFill>
              <a:latin typeface="Calibri" panose="020F050202020403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endParaRPr lang="en-SG" sz="2000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r>
              <a:rPr lang="en-SG" sz="2000" dirty="0">
                <a:hlinkClick r:id="rId6"/>
              </a:rPr>
              <a:t>https://sustainability.aboutamazon.com/products-services/aws-cloud</a:t>
            </a:r>
            <a:endParaRPr lang="en-SG" sz="2000" dirty="0"/>
          </a:p>
          <a:p>
            <a:pPr>
              <a:spcAft>
                <a:spcPts val="0"/>
              </a:spcAft>
            </a:pPr>
            <a:endParaRPr lang="en-SG" sz="2000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endParaRPr lang="en-SG" sz="2000" u="sng" dirty="0">
              <a:solidFill>
                <a:srgbClr val="0000FF"/>
              </a:solidFill>
              <a:latin typeface="Calibri" panose="020F050202020403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>
              <a:spcAft>
                <a:spcPts val="0"/>
              </a:spcAft>
            </a:pPr>
            <a:endParaRPr lang="en-SG" sz="2000" dirty="0">
              <a:effectLst/>
              <a:latin typeface="Gulim" panose="020B0600000101010101" pitchFamily="34" charset="-127"/>
              <a:ea typeface="Gulim" panose="020B0600000101010101" pitchFamily="34" charset="-127"/>
              <a:cs typeface="Gulim" panose="020B0600000101010101" pitchFamily="34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B6327-351E-4D44-B1BD-7C18CA1EDF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270" y="4126672"/>
            <a:ext cx="5512083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20825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추가 참고 사례 (Reference Case)</a:t>
            </a:r>
          </a:p>
          <a:p>
            <a:pPr algn="l"/>
            <a:r>
              <a:rPr sz="1300">
                <a:solidFill>
                  <a:srgbClr val="D6E4F0"/>
                </a:solidFill>
                <a:latin typeface="맑은 고딕"/>
              </a:rPr>
              <a:t>AWS SIN060과 동일 지역 (싱가포르 Tampines) 냉각수 처리 운영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60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840" cy="8686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  <a:latin typeface="맑은 고딕"/>
              </a:rPr>
              <a:t>📌 출처: NCH ChemAqua / Solenis (Cristina) - 2026년 3월 19일 작성된 SMART FSR (Field Service Report)</a:t>
            </a:r>
          </a:p>
          <a:p>
            <a:pPr algn="l"/>
            <a:r>
              <a:rPr sz="1300" b="0">
                <a:solidFill>
                  <a:srgbClr val="1F3A5F"/>
                </a:solidFill>
                <a:latin typeface="맑은 고딕"/>
              </a:rPr>
              <a:t>📌 사이트: Brilliant Engineering Pte Ltd, 6 Tampines Industrial Avenue 5, Singapore</a:t>
            </a:r>
          </a:p>
          <a:p>
            <a:pPr algn="l"/>
            <a:r>
              <a:rPr sz="1300" b="0">
                <a:solidFill>
                  <a:srgbClr val="1F3A5F"/>
                </a:solidFill>
                <a:latin typeface="맑은 고딕"/>
              </a:rPr>
              <a:t>📌 핵심 시사점: EO 시스템 없이도 일반 약품 처리만으로 CoC 17.16 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맑은 고딕"/>
              </a:rPr>
              <a:t>현장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5486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5120640" cy="21945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▪ 위치: 6 Tampines Industrial Avenue 5, Singapore 528760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▪ AWS SIN060(12 Sunview Drive)과 동일한 Tampines 산업 지역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▪ 동일한 보충수원 사용: NEWater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▪ 측정일: 2026년 3월 19일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▪ 운전 조건: CT1만 가동 중, CT2~4 정지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▪ 처리 방식: 일반 냉각수 약품 처리 (특수 기술 없음)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맑은 고딕"/>
              </a:rPr>
              <a:t>핵심 운전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97480"/>
            <a:ext cx="5486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5120640" cy="21945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✅ 농축 사이클 (CoC): 17.16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✅ 산 주입 없음 (No acid feed)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✅ 특수 프로그램 없음 (No special program)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✅ EO 시스템 없음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✅ 모든 파라미터가 관리범위 (Control Range) 내</a:t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50" b="0">
                <a:solidFill>
                  <a:srgbClr val="444444"/>
                </a:solidFill>
                <a:latin typeface="맑은 고딕"/>
              </a:rPr>
              <a:t>✅ 일반 산화/비산화 살균제 수동 투입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127760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91184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👉 본 사례는 슬라이드 18의 결론을 직접 뒷받침: 싱가포르 NEWater의 낮은 경도/알칼리도/염화물 특성상 EO 처리 없이도 고 CoC 운전이 충분히 달성 가능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냉각수 운전 데이터 (6 Tampines Industrial)</a:t>
            </a:r>
          </a:p>
          <a:p>
            <a:pPr algn="l"/>
            <a:r>
              <a:rPr sz="1300">
                <a:solidFill>
                  <a:srgbClr val="D6E4F0"/>
                </a:solidFill>
                <a:latin typeface="맑은 고딕"/>
              </a:rPr>
              <a:t>2026년 3월 19일 측정값 - 모든 항목 관리범위 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63040"/>
                <a:gridCol w="1828800"/>
                <a:gridCol w="1463040"/>
                <a:gridCol w="4206240"/>
              </a:tblGrid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측정 항목</a:t>
                      </a:r>
                    </a:p>
                  </a:txBody>
                  <a:tcPr marL="50800" marR="508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NEWater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(보충수)</a:t>
                      </a:r>
                    </a:p>
                  </a:txBody>
                  <a:tcPr marL="50800" marR="508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냉각탑수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(Cooling Tower)</a:t>
                      </a:r>
                    </a:p>
                  </a:txBody>
                  <a:tcPr marL="50800" marR="508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냉수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(Chilled Water)</a:t>
                      </a:r>
                    </a:p>
                  </a:txBody>
                  <a:tcPr marL="50800" marR="508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관리 범위</a:t>
                      </a:r>
                    </a:p>
                  </a:txBody>
                  <a:tcPr marL="50800" marR="50800" marT="25400" marB="25400">
                    <a:solidFill>
                      <a:srgbClr val="1F3A5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전도도 (µS/cm)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81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1,390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1,142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CT: 0–1,500 / CHW: 0–3,500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pH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7.57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8.91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10.36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CT: 7–9 / CHW: 8.5–11.5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총 알칼리도 (ppm CaCO₃)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260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0–500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칼슘 경도 (ppm CaCO₃)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144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0–500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염화물 (ppm)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124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0–400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총 철 (ppm)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0.01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0.24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0–3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PTSA (ppb) — 트레이서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86.3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40–300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아질산염 NaNO₂ (ppm)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852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600–1,500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아질산염 NO₂ (ppm)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568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44444"/>
                          </a:solidFill>
                          <a:latin typeface="맑은 고딕"/>
                        </a:rPr>
                        <a:t>400–1,200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A5F"/>
                          </a:solidFill>
                          <a:latin typeface="맑은 고딕"/>
                        </a:rPr>
                        <a:t>농축 사이클 (CoC)</a:t>
                      </a:r>
                    </a:p>
                  </a:txBody>
                  <a:tcPr marL="50800" marR="50800" marT="25400" marB="25400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맑은 고딕"/>
                        </a:rPr>
                        <a:t>17.16</a:t>
                      </a:r>
                    </a:p>
                  </a:txBody>
                  <a:tcPr marL="50800" marR="50800" marT="25400" marB="25400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943600"/>
            <a:ext cx="11460480" cy="7315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※ 냉각탑 4기 중 CT1만 가동, 시료 채취 중 블로우다운 진행 중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※ 산화/비산화 살균제 수동 투입, 자동 약품 주입 시스템(스키드) 정상 작동 확인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48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본 사례가 시사하는 점</a:t>
            </a:r>
          </a:p>
          <a:p>
            <a:pPr algn="l"/>
            <a:r>
              <a:rPr sz="1300">
                <a:solidFill>
                  <a:srgbClr val="D6E4F0"/>
                </a:solidFill>
                <a:latin typeface="맑은 고딕"/>
              </a:rPr>
              <a:t>AWS SIN060 EO 시스템 평가에 대한 추가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64592" cy="155448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91184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맑은 고딕"/>
              </a:rPr>
              <a:t>1. EO 시스템 없이도 고 CoC 운전 가능함이 실제 사례로 입증됨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911840" cy="9601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동일 지역(Tampines), 동일 보충수(NEWater) 조건에서 CoC 17.16 달성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AWS SIN060의 보고된 CoC 증가(~13 → ~15)는 EO의 고유 효과로 보기 어려움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슬라이드 17의 분석(NEA 기준 CoC 13→15 절수 효과 ~1%)과 일관됨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7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6459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1091184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맑은 고딕"/>
              </a:rPr>
              <a:t>2. NEWater의 우수한 수질 특성이 고 CoC 운전을 가능케 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10911840" cy="9601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보충수 전도도 81 µS/cm로 매우 낮음 → 농축 여유도 큼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일반 약품 처리만으로 pH 8.91, 알칼리도 260 ppm, 염화물 124 ppm 안정 유지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산 주입 없이도 모든 파라미터가 관리범위 내 운전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1127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16459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091184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맑은 고딕"/>
              </a:rPr>
              <a:t>3. 한국 적용 시 고려사항 - 수질 차이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10911840" cy="9601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한국 보충수(상수도/공업용수)는 NEWater 대비 경도·알칼리도가 높을 수 있음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싱가포르 결과를 한국에 직접 적용하기 전 현장별 수질 분석 필수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맑은 고딕"/>
              </a:rPr>
              <a:t>• EO 도입 검토 전, 기존 약품 처리 최적화로 달성 가능한 CoC 우선 평가 권장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d18167-29df-473e-beac-126cbe9d827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BA936DBAFA27469531DBFADC4F6FC7" ma:contentTypeVersion="19" ma:contentTypeDescription="Create a new document." ma:contentTypeScope="" ma:versionID="b746160393b4c12fe1fcee019b9df496">
  <xsd:schema xmlns:xsd="http://www.w3.org/2001/XMLSchema" xmlns:xs="http://www.w3.org/2001/XMLSchema" xmlns:p="http://schemas.microsoft.com/office/2006/metadata/properties" xmlns:ns3="73d18167-29df-473e-beac-126cbe9d827a" xmlns:ns4="fd5e3b8b-bb01-4ad8-a7fa-8c0d869f38f8" targetNamespace="http://schemas.microsoft.com/office/2006/metadata/properties" ma:root="true" ma:fieldsID="0845b3b5115ce2a53409eedca573c6be" ns3:_="" ns4:_="">
    <xsd:import namespace="73d18167-29df-473e-beac-126cbe9d827a"/>
    <xsd:import namespace="fd5e3b8b-bb01-4ad8-a7fa-8c0d869f38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d18167-29df-473e-beac-126cbe9d82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5e3b8b-bb01-4ad8-a7fa-8c0d869f38f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010EA-6EC2-4F2E-A254-CFCACDCB617F}">
  <ds:schemaRefs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73d18167-29df-473e-beac-126cbe9d827a"/>
    <ds:schemaRef ds:uri="http://schemas.microsoft.com/office/2006/metadata/properties"/>
    <ds:schemaRef ds:uri="http://schemas.openxmlformats.org/package/2006/metadata/core-properties"/>
    <ds:schemaRef ds:uri="fd5e3b8b-bb01-4ad8-a7fa-8c0d869f38f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B0A8F8D-C28D-45ED-A30D-0C6F73099C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d18167-29df-473e-beac-126cbe9d827a"/>
    <ds:schemaRef ds:uri="fd5e3b8b-bb01-4ad8-a7fa-8c0d869f38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C6A33E-36C7-4DBF-AA59-705136A43B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2434</Words>
  <Application>Microsoft Office PowerPoint</Application>
  <PresentationFormat>Widescreen</PresentationFormat>
  <Paragraphs>275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等线</vt:lpstr>
      <vt:lpstr>等线 Light</vt:lpstr>
      <vt:lpstr>Gulim</vt:lpstr>
      <vt:lpstr>Helvetica-Bold</vt:lpstr>
      <vt:lpstr>Malgun Gothic</vt:lpstr>
      <vt:lpstr>Arial</vt:lpstr>
      <vt:lpstr>Calibri</vt:lpstr>
      <vt:lpstr>Calibri Light</vt:lpstr>
      <vt:lpstr>Times New Roman</vt:lpstr>
      <vt:lpstr>Wingdings</vt:lpstr>
      <vt:lpstr>Office Theme</vt:lpstr>
      <vt:lpstr>Electrooxidation (EO) System in Data Center Cooling System Technical Review of AWS SIN060 Case (Singapore)</vt:lpstr>
      <vt:lpstr>Contents</vt:lpstr>
      <vt:lpstr>Executive Summary</vt:lpstr>
      <vt:lpstr>Executive Summary</vt:lpstr>
      <vt:lpstr>Executive Summary</vt:lpstr>
      <vt:lpstr>AWS SIN060 -  Site Understanding </vt:lpstr>
      <vt:lpstr>What EO System Is</vt:lpstr>
      <vt:lpstr>What EO System Is</vt:lpstr>
      <vt:lpstr>How It Works</vt:lpstr>
      <vt:lpstr>How It Works</vt:lpstr>
      <vt:lpstr>Critical Observations from AWS SIN060 Case</vt:lpstr>
      <vt:lpstr>Critical Observations from AWS SIN060 Case</vt:lpstr>
      <vt:lpstr>Critical Observations from AWS SIN060 Case</vt:lpstr>
      <vt:lpstr>PowerPoint Presentation</vt:lpstr>
      <vt:lpstr>Critical Observations from AWS SIN060 Case</vt:lpstr>
      <vt:lpstr>PowerPoint Presentation</vt:lpstr>
      <vt:lpstr>PowerPoint Presentation</vt:lpstr>
      <vt:lpstr>PowerPoint Presentation</vt:lpstr>
      <vt:lpstr>Critical Observations from AWS SIN060 Case</vt:lpstr>
      <vt:lpstr>Critical Observations from AWS SIN060 Case</vt:lpstr>
      <vt:lpstr>What is Missing</vt:lpstr>
      <vt:lpstr>What is Missing</vt:lpstr>
      <vt:lpstr>What is Missing</vt:lpstr>
      <vt:lpstr>What is Missing</vt:lpstr>
      <vt:lpstr>What is Missing</vt:lpstr>
      <vt:lpstr>What is Missing</vt:lpstr>
      <vt:lpstr>What is Missing</vt:lpstr>
      <vt:lpstr>Key Conclusions</vt:lpstr>
      <vt:lpstr>Recommendations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 U+ AWS</dc:title>
  <dc:creator>Longchang Li</dc:creator>
  <cp:lastModifiedBy>Longchang Li</cp:lastModifiedBy>
  <cp:revision>27</cp:revision>
  <dcterms:created xsi:type="dcterms:W3CDTF">2026-04-19T12:34:59Z</dcterms:created>
  <dcterms:modified xsi:type="dcterms:W3CDTF">2026-04-20T09:59:06Z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0x0101006ABA936DBAFA27469531DBFADC4F6FC7</vt:lpwstr>
  </property>
</Properties>
</file>